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076138143" r:id="rId3"/>
    <p:sldId id="2076138145" r:id="rId4"/>
    <p:sldId id="2076138144" r:id="rId5"/>
    <p:sldId id="2076138160" r:id="rId6"/>
    <p:sldId id="2076138146" r:id="rId7"/>
    <p:sldId id="2076138147" r:id="rId8"/>
    <p:sldId id="2076138148" r:id="rId9"/>
    <p:sldId id="2076138149" r:id="rId10"/>
    <p:sldId id="2076138150" r:id="rId11"/>
    <p:sldId id="2076138151" r:id="rId12"/>
    <p:sldId id="2076138152" r:id="rId13"/>
    <p:sldId id="2076138153" r:id="rId14"/>
    <p:sldId id="2076138154" r:id="rId15"/>
    <p:sldId id="2076138155" r:id="rId16"/>
    <p:sldId id="2076138156" r:id="rId17"/>
    <p:sldId id="2076138157" r:id="rId18"/>
    <p:sldId id="2076138158" r:id="rId19"/>
    <p:sldId id="2076138159" r:id="rId20"/>
    <p:sldId id="2076138164" r:id="rId21"/>
    <p:sldId id="2076138167" r:id="rId22"/>
    <p:sldId id="2076138165" r:id="rId23"/>
    <p:sldId id="2076138166" r:id="rId24"/>
    <p:sldId id="2076138161" r:id="rId25"/>
    <p:sldId id="2076138162" r:id="rId26"/>
    <p:sldId id="2076138163" r:id="rId27"/>
    <p:sldId id="2076138168" r:id="rId28"/>
    <p:sldId id="2076138169" r:id="rId29"/>
    <p:sldId id="207613817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14DAD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im\Desktop\SQL%20Tamayuz%20Project\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im\Desktop\SQL%20Tamayuz%20Project\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im\Desktop\SQL%20Tamayuz%20Project\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im\Desktop\SQL%20Tamayuz%20Project\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im\Desktop\SQL%20Tamayuz%20Project\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im\Desktop\SQL%20Tamayuz%20Project\Dashboar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im\Desktop\SQL%20Tamayuz%20Project\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im\Desktop\SQL%20Tamayuz%20Project\Dashboar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[Dashboard.xlsx]Sheet5!PivotTable4</c:name>
    <c:fmtId val="9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Distribution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8"/>
        <c:spPr>
          <a:solidFill>
            <a:schemeClr val="accent5">
              <a:shade val="38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5">
              <a:shade val="4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5">
              <a:shade val="5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5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5">
              <a:shade val="7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5">
              <a:shade val="8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5">
              <a:shade val="91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5">
              <a:tint val="9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5">
              <a:tint val="8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5">
              <a:tint val="74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5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5">
              <a:tint val="57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8062340033275646E-2"/>
              <c:y val="0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1"/>
        <c:spPr>
          <a:solidFill>
            <a:schemeClr val="accent5">
              <a:tint val="4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9906124311859437E-2"/>
              <c:y val="-3.9453017886381049E-17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2"/>
        <c:spPr>
          <a:solidFill>
            <a:schemeClr val="accent5">
              <a:tint val="39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4"/>
        <c:spPr>
          <a:solidFill>
            <a:schemeClr val="accent5">
              <a:shade val="38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5"/>
        <c:spPr>
          <a:solidFill>
            <a:schemeClr val="accent5">
              <a:shade val="4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6"/>
        <c:spPr>
          <a:solidFill>
            <a:schemeClr val="accent5">
              <a:tint val="9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7"/>
        <c:spPr>
          <a:solidFill>
            <a:schemeClr val="accent5">
              <a:tint val="8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8"/>
        <c:spPr>
          <a:solidFill>
            <a:schemeClr val="accent5">
              <a:tint val="74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5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1"/>
        <c:spPr>
          <a:solidFill>
            <a:schemeClr val="accent5">
              <a:shade val="38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5">
              <a:shade val="4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3"/>
        <c:spPr>
          <a:solidFill>
            <a:schemeClr val="accent5">
              <a:tint val="9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4"/>
        <c:spPr>
          <a:solidFill>
            <a:schemeClr val="accent5">
              <a:tint val="8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5"/>
        <c:spPr>
          <a:solidFill>
            <a:schemeClr val="accent5">
              <a:tint val="74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6"/>
        <c:spPr>
          <a:solidFill>
            <a:schemeClr val="accent5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Sheet5!$B$3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3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27-4DED-8B8E-A7D9E7015D42}"/>
              </c:ext>
            </c:extLst>
          </c:dPt>
          <c:dPt>
            <c:idx val="1"/>
            <c:bubble3D val="0"/>
            <c:spPr>
              <a:solidFill>
                <a:schemeClr val="accent5">
                  <a:shade val="4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27-4DED-8B8E-A7D9E7015D42}"/>
              </c:ext>
            </c:extLst>
          </c:dPt>
          <c:dPt>
            <c:idx val="2"/>
            <c:bubble3D val="0"/>
            <c:spPr>
              <a:solidFill>
                <a:schemeClr val="accent5">
                  <a:tint val="92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27-4DED-8B8E-A7D9E7015D42}"/>
              </c:ext>
            </c:extLst>
          </c:dPt>
          <c:dPt>
            <c:idx val="3"/>
            <c:bubble3D val="0"/>
            <c:spPr>
              <a:solidFill>
                <a:schemeClr val="accent5">
                  <a:tint val="8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B27-4DED-8B8E-A7D9E7015D42}"/>
              </c:ext>
            </c:extLst>
          </c:dPt>
          <c:dPt>
            <c:idx val="4"/>
            <c:bubble3D val="0"/>
            <c:spPr>
              <a:solidFill>
                <a:schemeClr val="accent5">
                  <a:tint val="7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B27-4DED-8B8E-A7D9E7015D42}"/>
              </c:ext>
            </c:extLst>
          </c:dPt>
          <c:dPt>
            <c:idx val="5"/>
            <c:bubble3D val="0"/>
            <c:spPr>
              <a:solidFill>
                <a:schemeClr val="accent5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B27-4DED-8B8E-A7D9E7015D42}"/>
              </c:ext>
            </c:extLst>
          </c:dPt>
          <c:dPt>
            <c:idx val="6"/>
            <c:bubble3D val="0"/>
            <c:spPr>
              <a:solidFill>
                <a:schemeClr val="accent5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B27-4DED-8B8E-A7D9E7015D42}"/>
              </c:ext>
            </c:extLst>
          </c:dPt>
          <c:dPt>
            <c:idx val="7"/>
            <c:bubble3D val="0"/>
            <c:spPr>
              <a:solidFill>
                <a:schemeClr val="accent5">
                  <a:tint val="1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B27-4DED-8B8E-A7D9E7015D42}"/>
              </c:ext>
            </c:extLst>
          </c:dPt>
          <c:dPt>
            <c:idx val="8"/>
            <c:bubble3D val="0"/>
            <c:spPr>
              <a:solidFill>
                <a:schemeClr val="accent5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4B27-4DED-8B8E-A7D9E7015D42}"/>
              </c:ext>
            </c:extLst>
          </c:dPt>
          <c:dPt>
            <c:idx val="9"/>
            <c:bubble3D val="0"/>
            <c:spPr>
              <a:solidFill>
                <a:schemeClr val="accent5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4B27-4DED-8B8E-A7D9E7015D42}"/>
              </c:ext>
            </c:extLst>
          </c:dPt>
          <c:dPt>
            <c:idx val="10"/>
            <c:bubble3D val="0"/>
            <c:spPr>
              <a:solidFill>
                <a:schemeClr val="accent5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4B27-4DED-8B8E-A7D9E7015D42}"/>
              </c:ext>
            </c:extLst>
          </c:dPt>
          <c:dPt>
            <c:idx val="11"/>
            <c:bubble3D val="0"/>
            <c:spPr>
              <a:solidFill>
                <a:schemeClr val="accent5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4B27-4DED-8B8E-A7D9E7015D42}"/>
              </c:ext>
            </c:extLst>
          </c:dPt>
          <c:dPt>
            <c:idx val="12"/>
            <c:bubble3D val="0"/>
            <c:spPr>
              <a:solidFill>
                <a:schemeClr val="accent5">
                  <a:tint val="1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4B27-4DED-8B8E-A7D9E7015D42}"/>
              </c:ext>
            </c:extLst>
          </c:dPt>
          <c:dPt>
            <c:idx val="13"/>
            <c:bubble3D val="0"/>
            <c:spPr>
              <a:solidFill>
                <a:schemeClr val="accent5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4B27-4DED-8B8E-A7D9E7015D42}"/>
              </c:ext>
            </c:extLst>
          </c:dPt>
          <c:dPt>
            <c:idx val="14"/>
            <c:bubble3D val="0"/>
            <c:spPr>
              <a:solidFill>
                <a:schemeClr val="accent5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4B27-4DED-8B8E-A7D9E7015D42}"/>
              </c:ext>
            </c:extLst>
          </c:dPt>
          <c:dLbls>
            <c:spPr>
              <a:noFill/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Sheet5!$A$4:$A$10</c:f>
              <c:strCache>
                <c:ptCount val="6"/>
                <c:pt idx="0">
                  <c:v>Australia</c:v>
                </c:pt>
                <c:pt idx="1">
                  <c:v>Bahrain</c:v>
                </c:pt>
                <c:pt idx="2">
                  <c:v>Kuwait</c:v>
                </c:pt>
                <c:pt idx="3">
                  <c:v>Oman</c:v>
                </c:pt>
                <c:pt idx="4">
                  <c:v>Qatar</c:v>
                </c:pt>
                <c:pt idx="5">
                  <c:v>Saudi Arabia</c:v>
                </c:pt>
              </c:strCache>
            </c:strRef>
          </c:cat>
          <c:val>
            <c:numRef>
              <c:f>Sheet5!$B$4:$B$10</c:f>
              <c:numCache>
                <c:formatCode>General</c:formatCode>
                <c:ptCount val="6"/>
                <c:pt idx="0">
                  <c:v>280465</c:v>
                </c:pt>
                <c:pt idx="1">
                  <c:v>316630</c:v>
                </c:pt>
                <c:pt idx="2">
                  <c:v>340685</c:v>
                </c:pt>
                <c:pt idx="3">
                  <c:v>266730</c:v>
                </c:pt>
                <c:pt idx="4">
                  <c:v>346935</c:v>
                </c:pt>
                <c:pt idx="5">
                  <c:v>283125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4B27-4DED-8B8E-A7D9E7015D4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[Dashboard.xlsx]Revenue by Product Category!PivotTable3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Revenue by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'Revenue by Product Category'!$B$3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by Product Category'!$A$4:$A$9</c:f>
              <c:strCache>
                <c:ptCount val="5"/>
                <c:pt idx="0">
                  <c:v>Accessories</c:v>
                </c:pt>
                <c:pt idx="1">
                  <c:v>Home &amp; Kitchen</c:v>
                </c:pt>
                <c:pt idx="2">
                  <c:v>Sports</c:v>
                </c:pt>
                <c:pt idx="3">
                  <c:v>Tech</c:v>
                </c:pt>
                <c:pt idx="4">
                  <c:v>Furniture</c:v>
                </c:pt>
              </c:strCache>
            </c:strRef>
          </c:cat>
          <c:val>
            <c:numRef>
              <c:f>'Revenue by Product Category'!$B$4:$B$9</c:f>
              <c:numCache>
                <c:formatCode>General</c:formatCode>
                <c:ptCount val="5"/>
                <c:pt idx="0">
                  <c:v>235540</c:v>
                </c:pt>
                <c:pt idx="1">
                  <c:v>593870</c:v>
                </c:pt>
                <c:pt idx="2">
                  <c:v>910515</c:v>
                </c:pt>
                <c:pt idx="3">
                  <c:v>988020</c:v>
                </c:pt>
                <c:pt idx="4">
                  <c:v>1131945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12-4C2D-9CCB-703D8C3CE75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axId val="1440237856"/>
        <c:axId val="1440222016"/>
      </c:barChart>
      <c:catAx>
        <c:axId val="144023785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222016"/>
        <c:crosses val="autoZero"/>
        <c:auto val="1"/>
        <c:lblAlgn val="ctr"/>
        <c:lblOffset val="100"/>
        <c:noMultiLvlLbl val="0"/>
      </c:catAx>
      <c:valAx>
        <c:axId val="1440222016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402378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[Dashboard.xlsx]Sheet11!PivotTable13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 Distribution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shade val="5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5">
              <a:shade val="7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5">
              <a:tint val="7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5">
              <a:tint val="54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5">
              <a:shade val="5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5">
              <a:shade val="7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5">
              <a:tint val="7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5">
              <a:tint val="54000"/>
            </a:schemeClr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Sheet11!$B$3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92A-44A3-91E6-FBD5075DF05E}"/>
              </c:ext>
            </c:extLst>
          </c:dPt>
          <c:dPt>
            <c:idx val="1"/>
            <c:bubble3D val="0"/>
            <c:spPr>
              <a:solidFill>
                <a:schemeClr val="accent5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92A-44A3-91E6-FBD5075DF05E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92A-44A3-91E6-FBD5075DF05E}"/>
              </c:ext>
            </c:extLst>
          </c:dPt>
          <c:dPt>
            <c:idx val="3"/>
            <c:bubble3D val="0"/>
            <c:spPr>
              <a:solidFill>
                <a:schemeClr val="accent5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92A-44A3-91E6-FBD5075DF05E}"/>
              </c:ext>
            </c:extLst>
          </c:dPt>
          <c:dPt>
            <c:idx val="4"/>
            <c:bubble3D val="0"/>
            <c:spPr>
              <a:solidFill>
                <a:schemeClr val="accent5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92A-44A3-91E6-FBD5075DF05E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Sheet11!$A$4:$A$9</c:f>
              <c:strCache>
                <c:ptCount val="5"/>
                <c:pt idx="0">
                  <c:v>Canada</c:v>
                </c:pt>
                <c:pt idx="1">
                  <c:v>Egypt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</c:strCache>
            </c:strRef>
          </c:cat>
          <c:val>
            <c:numRef>
              <c:f>Sheet11!$B$4:$B$9</c:f>
              <c:numCache>
                <c:formatCode>General</c:formatCode>
                <c:ptCount val="5"/>
                <c:pt idx="0">
                  <c:v>205950</c:v>
                </c:pt>
                <c:pt idx="1">
                  <c:v>227505</c:v>
                </c:pt>
                <c:pt idx="2">
                  <c:v>200660</c:v>
                </c:pt>
                <c:pt idx="3">
                  <c:v>215525</c:v>
                </c:pt>
                <c:pt idx="4">
                  <c:v>215445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2A-44A3-91E6-FBD5075DF0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[Dashboard.xlsx]Sheet10!PivotTable12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 Selling Products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Sheet10!$B$3:$B$4</c:f>
              <c:strCache>
                <c:ptCount val="1"/>
                <c:pt idx="0">
                  <c:v>Accessories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Sheet10!$A$5:$A$10</c:f>
              <c:strCache>
                <c:ptCount val="5"/>
                <c:pt idx="0">
                  <c:v>Passport Holder</c:v>
                </c:pt>
                <c:pt idx="1">
                  <c:v>Gaming Mouse</c:v>
                </c:pt>
                <c:pt idx="2">
                  <c:v>Running Shoes</c:v>
                </c:pt>
                <c:pt idx="3">
                  <c:v>Fitness Tracker</c:v>
                </c:pt>
                <c:pt idx="4">
                  <c:v>Leather Wallet</c:v>
                </c:pt>
              </c:strCache>
            </c:strRef>
          </c:cat>
          <c:val>
            <c:numRef>
              <c:f>Sheet10!$B$5:$B$10</c:f>
              <c:numCache>
                <c:formatCode>General</c:formatCode>
                <c:ptCount val="5"/>
                <c:pt idx="0">
                  <c:v>176</c:v>
                </c:pt>
                <c:pt idx="4">
                  <c:v>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6D-4156-BD32-C2B043161E3A}"/>
            </c:ext>
          </c:extLst>
        </c:ser>
        <c:ser>
          <c:idx val="1"/>
          <c:order val="1"/>
          <c:tx>
            <c:strRef>
              <c:f>Sheet10!$C$3:$C$4</c:f>
              <c:strCache>
                <c:ptCount val="1"/>
                <c:pt idx="0">
                  <c:v>Furniture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Sheet10!$A$5:$A$10</c:f>
              <c:strCache>
                <c:ptCount val="5"/>
                <c:pt idx="0">
                  <c:v>Passport Holder</c:v>
                </c:pt>
                <c:pt idx="1">
                  <c:v>Gaming Mouse</c:v>
                </c:pt>
                <c:pt idx="2">
                  <c:v>Running Shoes</c:v>
                </c:pt>
                <c:pt idx="3">
                  <c:v>Fitness Tracker</c:v>
                </c:pt>
                <c:pt idx="4">
                  <c:v>Leather Wallet</c:v>
                </c:pt>
              </c:strCache>
            </c:strRef>
          </c:cat>
          <c:val>
            <c:numRef>
              <c:f>Sheet10!$C$5:$C$10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0D6D-4156-BD32-C2B043161E3A}"/>
            </c:ext>
          </c:extLst>
        </c:ser>
        <c:ser>
          <c:idx val="2"/>
          <c:order val="2"/>
          <c:tx>
            <c:strRef>
              <c:f>Sheet10!$D$3:$D$4</c:f>
              <c:strCache>
                <c:ptCount val="1"/>
                <c:pt idx="0">
                  <c:v>Home &amp; Kitchen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Sheet10!$A$5:$A$10</c:f>
              <c:strCache>
                <c:ptCount val="5"/>
                <c:pt idx="0">
                  <c:v>Passport Holder</c:v>
                </c:pt>
                <c:pt idx="1">
                  <c:v>Gaming Mouse</c:v>
                </c:pt>
                <c:pt idx="2">
                  <c:v>Running Shoes</c:v>
                </c:pt>
                <c:pt idx="3">
                  <c:v>Fitness Tracker</c:v>
                </c:pt>
                <c:pt idx="4">
                  <c:v>Leather Wallet</c:v>
                </c:pt>
              </c:strCache>
            </c:strRef>
          </c:cat>
          <c:val>
            <c:numRef>
              <c:f>Sheet10!$D$5:$D$10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0D6D-4156-BD32-C2B043161E3A}"/>
            </c:ext>
          </c:extLst>
        </c:ser>
        <c:ser>
          <c:idx val="3"/>
          <c:order val="3"/>
          <c:tx>
            <c:strRef>
              <c:f>Sheet10!$E$3:$E$4</c:f>
              <c:strCache>
                <c:ptCount val="1"/>
                <c:pt idx="0">
                  <c:v>Sports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Sheet10!$A$5:$A$10</c:f>
              <c:strCache>
                <c:ptCount val="5"/>
                <c:pt idx="0">
                  <c:v>Passport Holder</c:v>
                </c:pt>
                <c:pt idx="1">
                  <c:v>Gaming Mouse</c:v>
                </c:pt>
                <c:pt idx="2">
                  <c:v>Running Shoes</c:v>
                </c:pt>
                <c:pt idx="3">
                  <c:v>Fitness Tracker</c:v>
                </c:pt>
                <c:pt idx="4">
                  <c:v>Leather Wallet</c:v>
                </c:pt>
              </c:strCache>
            </c:strRef>
          </c:cat>
          <c:val>
            <c:numRef>
              <c:f>Sheet10!$E$5:$E$10</c:f>
              <c:numCache>
                <c:formatCode>General</c:formatCode>
                <c:ptCount val="5"/>
                <c:pt idx="2">
                  <c:v>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D6D-4156-BD32-C2B043161E3A}"/>
            </c:ext>
          </c:extLst>
        </c:ser>
        <c:ser>
          <c:idx val="4"/>
          <c:order val="4"/>
          <c:tx>
            <c:strRef>
              <c:f>Sheet10!$F$3:$F$4</c:f>
              <c:strCache>
                <c:ptCount val="1"/>
                <c:pt idx="0">
                  <c:v>Tech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Sheet10!$A$5:$A$10</c:f>
              <c:strCache>
                <c:ptCount val="5"/>
                <c:pt idx="0">
                  <c:v>Passport Holder</c:v>
                </c:pt>
                <c:pt idx="1">
                  <c:v>Gaming Mouse</c:v>
                </c:pt>
                <c:pt idx="2">
                  <c:v>Running Shoes</c:v>
                </c:pt>
                <c:pt idx="3">
                  <c:v>Fitness Tracker</c:v>
                </c:pt>
                <c:pt idx="4">
                  <c:v>Leather Wallet</c:v>
                </c:pt>
              </c:strCache>
            </c:strRef>
          </c:cat>
          <c:val>
            <c:numRef>
              <c:f>Sheet10!$F$5:$F$10</c:f>
              <c:numCache>
                <c:formatCode>General</c:formatCode>
                <c:ptCount val="5"/>
                <c:pt idx="1">
                  <c:v>174</c:v>
                </c:pt>
                <c:pt idx="3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6D-4156-BD32-C2B043161E3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13916367"/>
        <c:axId val="713921647"/>
      </c:barChart>
      <c:catAx>
        <c:axId val="713916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3921647"/>
        <c:crosses val="autoZero"/>
        <c:auto val="1"/>
        <c:lblAlgn val="ctr"/>
        <c:lblOffset val="100"/>
        <c:noMultiLvlLbl val="0"/>
      </c:catAx>
      <c:valAx>
        <c:axId val="7139216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3916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[Dashboard.xlsx]Sheet5!PivotTable4</c:name>
    <c:fmtId val="5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Distribution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8062340033275646E-2"/>
              <c:y val="0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9906124311859437E-2"/>
              <c:y val="-3.9453017886381049E-17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4"/>
        <c:spPr>
          <a:solidFill>
            <a:schemeClr val="accent5">
              <a:shade val="38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5"/>
        <c:spPr>
          <a:solidFill>
            <a:schemeClr val="accent5">
              <a:shade val="4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6"/>
        <c:spPr>
          <a:solidFill>
            <a:schemeClr val="accent5">
              <a:shade val="5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7"/>
        <c:spPr>
          <a:solidFill>
            <a:schemeClr val="accent5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8"/>
        <c:spPr>
          <a:solidFill>
            <a:schemeClr val="accent5">
              <a:shade val="7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5">
              <a:shade val="8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0"/>
        <c:spPr>
          <a:solidFill>
            <a:schemeClr val="accent5">
              <a:shade val="91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5">
              <a:tint val="9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3"/>
        <c:spPr>
          <a:solidFill>
            <a:schemeClr val="accent5">
              <a:tint val="8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4"/>
        <c:spPr>
          <a:solidFill>
            <a:schemeClr val="accent5">
              <a:tint val="74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5"/>
        <c:spPr>
          <a:solidFill>
            <a:schemeClr val="accent5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6"/>
        <c:spPr>
          <a:solidFill>
            <a:schemeClr val="accent5">
              <a:tint val="57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8062340033275646E-2"/>
              <c:y val="0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7"/>
        <c:spPr>
          <a:solidFill>
            <a:schemeClr val="accent5">
              <a:tint val="4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9906124311859437E-2"/>
              <c:y val="-3.9453017886381049E-17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8"/>
        <c:spPr>
          <a:solidFill>
            <a:schemeClr val="accent5">
              <a:tint val="39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0"/>
        <c:spPr>
          <a:solidFill>
            <a:schemeClr val="accent5">
              <a:shade val="38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1"/>
        <c:spPr>
          <a:solidFill>
            <a:schemeClr val="accent5">
              <a:shade val="4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2"/>
        <c:spPr>
          <a:solidFill>
            <a:schemeClr val="accent5">
              <a:shade val="5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3"/>
        <c:spPr>
          <a:solidFill>
            <a:schemeClr val="accent5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4"/>
        <c:spPr>
          <a:solidFill>
            <a:schemeClr val="accent5">
              <a:shade val="7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5"/>
        <c:spPr>
          <a:solidFill>
            <a:schemeClr val="accent5">
              <a:shade val="8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6"/>
        <c:spPr>
          <a:solidFill>
            <a:schemeClr val="accent5">
              <a:shade val="91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68"/>
        <c:spPr>
          <a:solidFill>
            <a:schemeClr val="accent5">
              <a:tint val="9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9"/>
        <c:spPr>
          <a:solidFill>
            <a:schemeClr val="accent5">
              <a:tint val="8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0"/>
        <c:spPr>
          <a:solidFill>
            <a:schemeClr val="accent5">
              <a:tint val="74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1"/>
        <c:spPr>
          <a:solidFill>
            <a:schemeClr val="accent5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2"/>
        <c:spPr>
          <a:solidFill>
            <a:schemeClr val="accent5">
              <a:tint val="57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8062340033275646E-2"/>
              <c:y val="0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3"/>
        <c:spPr>
          <a:solidFill>
            <a:schemeClr val="accent5">
              <a:tint val="4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9906124311859437E-2"/>
              <c:y val="-3.9453017886381049E-17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4"/>
        <c:spPr>
          <a:solidFill>
            <a:schemeClr val="accent5">
              <a:tint val="39000"/>
            </a:schemeClr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Sheet5!$B$3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3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304-4123-B359-B5A768D6FC52}"/>
              </c:ext>
            </c:extLst>
          </c:dPt>
          <c:dPt>
            <c:idx val="1"/>
            <c:bubble3D val="0"/>
            <c:spPr>
              <a:solidFill>
                <a:schemeClr val="accent5">
                  <a:shade val="4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304-4123-B359-B5A768D6FC52}"/>
              </c:ext>
            </c:extLst>
          </c:dPt>
          <c:dPt>
            <c:idx val="2"/>
            <c:bubble3D val="0"/>
            <c:spPr>
              <a:solidFill>
                <a:schemeClr val="accent5">
                  <a:shade val="5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304-4123-B359-B5A768D6FC52}"/>
              </c:ext>
            </c:extLst>
          </c:dPt>
          <c:dPt>
            <c:idx val="3"/>
            <c:bubble3D val="0"/>
            <c:spPr>
              <a:solidFill>
                <a:schemeClr val="accent5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304-4123-B359-B5A768D6FC52}"/>
              </c:ext>
            </c:extLst>
          </c:dPt>
          <c:dPt>
            <c:idx val="4"/>
            <c:bubble3D val="0"/>
            <c:spPr>
              <a:solidFill>
                <a:schemeClr val="accent5">
                  <a:shade val="7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304-4123-B359-B5A768D6FC52}"/>
              </c:ext>
            </c:extLst>
          </c:dPt>
          <c:dPt>
            <c:idx val="5"/>
            <c:bubble3D val="0"/>
            <c:spPr>
              <a:solidFill>
                <a:schemeClr val="accent5">
                  <a:shade val="82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304-4123-B359-B5A768D6FC52}"/>
              </c:ext>
            </c:extLst>
          </c:dPt>
          <c:dPt>
            <c:idx val="6"/>
            <c:bubble3D val="0"/>
            <c:spPr>
              <a:solidFill>
                <a:schemeClr val="accent5">
                  <a:shade val="91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304-4123-B359-B5A768D6FC52}"/>
              </c:ext>
            </c:extLst>
          </c:dPt>
          <c:dPt>
            <c:idx val="7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5304-4123-B359-B5A768D6FC52}"/>
              </c:ext>
            </c:extLst>
          </c:dPt>
          <c:dPt>
            <c:idx val="8"/>
            <c:bubble3D val="0"/>
            <c:spPr>
              <a:solidFill>
                <a:schemeClr val="accent5">
                  <a:tint val="92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5304-4123-B359-B5A768D6FC52}"/>
              </c:ext>
            </c:extLst>
          </c:dPt>
          <c:dPt>
            <c:idx val="9"/>
            <c:bubble3D val="0"/>
            <c:spPr>
              <a:solidFill>
                <a:schemeClr val="accent5">
                  <a:tint val="8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5304-4123-B359-B5A768D6FC52}"/>
              </c:ext>
            </c:extLst>
          </c:dPt>
          <c:dPt>
            <c:idx val="10"/>
            <c:bubble3D val="0"/>
            <c:spPr>
              <a:solidFill>
                <a:schemeClr val="accent5">
                  <a:tint val="7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5304-4123-B359-B5A768D6FC52}"/>
              </c:ext>
            </c:extLst>
          </c:dPt>
          <c:dPt>
            <c:idx val="11"/>
            <c:bubble3D val="0"/>
            <c:spPr>
              <a:solidFill>
                <a:schemeClr val="accent5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5304-4123-B359-B5A768D6FC52}"/>
              </c:ext>
            </c:extLst>
          </c:dPt>
          <c:dPt>
            <c:idx val="12"/>
            <c:bubble3D val="0"/>
            <c:spPr>
              <a:solidFill>
                <a:schemeClr val="accent5">
                  <a:tint val="5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5304-4123-B359-B5A768D6FC52}"/>
              </c:ext>
            </c:extLst>
          </c:dPt>
          <c:dPt>
            <c:idx val="13"/>
            <c:bubble3D val="0"/>
            <c:spPr>
              <a:solidFill>
                <a:schemeClr val="accent5">
                  <a:tint val="4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5304-4123-B359-B5A768D6FC52}"/>
              </c:ext>
            </c:extLst>
          </c:dPt>
          <c:dPt>
            <c:idx val="14"/>
            <c:bubble3D val="0"/>
            <c:spPr>
              <a:solidFill>
                <a:schemeClr val="accent5">
                  <a:tint val="39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5304-4123-B359-B5A768D6FC52}"/>
              </c:ext>
            </c:extLst>
          </c:dPt>
          <c:dLbls>
            <c:dLbl>
              <c:idx val="12"/>
              <c:layout>
                <c:manualLayout>
                  <c:x val="-3.8062340033275646E-2"/>
                  <c:y val="0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304-4123-B359-B5A768D6FC52}"/>
                </c:ext>
              </c:extLst>
            </c:dLbl>
            <c:dLbl>
              <c:idx val="13"/>
              <c:layout>
                <c:manualLayout>
                  <c:x val="-2.9906124311859437E-2"/>
                  <c:y val="-3.9453017886381049E-17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304-4123-B359-B5A768D6FC52}"/>
                </c:ext>
              </c:extLst>
            </c:dLbl>
            <c:spPr>
              <a:noFill/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Sheet5!$A$4:$A$19</c:f>
              <c:strCache>
                <c:ptCount val="15"/>
                <c:pt idx="0">
                  <c:v>Australia</c:v>
                </c:pt>
                <c:pt idx="1">
                  <c:v>Bahrain</c:v>
                </c:pt>
                <c:pt idx="2">
                  <c:v>Canada</c:v>
                </c:pt>
                <c:pt idx="3">
                  <c:v>Egypt</c:v>
                </c:pt>
                <c:pt idx="4">
                  <c:v>France</c:v>
                </c:pt>
                <c:pt idx="5">
                  <c:v>Germany</c:v>
                </c:pt>
                <c:pt idx="6">
                  <c:v>India</c:v>
                </c:pt>
                <c:pt idx="7">
                  <c:v>Jordan</c:v>
                </c:pt>
                <c:pt idx="8">
                  <c:v>Kuwait</c:v>
                </c:pt>
                <c:pt idx="9">
                  <c:v>Oman</c:v>
                </c:pt>
                <c:pt idx="10">
                  <c:v>Qatar</c:v>
                </c:pt>
                <c:pt idx="11">
                  <c:v>Saudi Arabia</c:v>
                </c:pt>
                <c:pt idx="12">
                  <c:v>UAE</c:v>
                </c:pt>
                <c:pt idx="13">
                  <c:v>United Kingdom</c:v>
                </c:pt>
                <c:pt idx="14">
                  <c:v>United States</c:v>
                </c:pt>
              </c:strCache>
            </c:strRef>
          </c:cat>
          <c:val>
            <c:numRef>
              <c:f>Sheet5!$B$4:$B$19</c:f>
              <c:numCache>
                <c:formatCode>General</c:formatCode>
                <c:ptCount val="15"/>
                <c:pt idx="0">
                  <c:v>280465</c:v>
                </c:pt>
                <c:pt idx="1">
                  <c:v>316630</c:v>
                </c:pt>
                <c:pt idx="2">
                  <c:v>205950</c:v>
                </c:pt>
                <c:pt idx="3">
                  <c:v>227505</c:v>
                </c:pt>
                <c:pt idx="4">
                  <c:v>200660</c:v>
                </c:pt>
                <c:pt idx="5">
                  <c:v>215525</c:v>
                </c:pt>
                <c:pt idx="6">
                  <c:v>215445</c:v>
                </c:pt>
                <c:pt idx="7">
                  <c:v>237775</c:v>
                </c:pt>
                <c:pt idx="8">
                  <c:v>340685</c:v>
                </c:pt>
                <c:pt idx="9">
                  <c:v>266730</c:v>
                </c:pt>
                <c:pt idx="10">
                  <c:v>346935</c:v>
                </c:pt>
                <c:pt idx="11">
                  <c:v>283125</c:v>
                </c:pt>
                <c:pt idx="12">
                  <c:v>232270</c:v>
                </c:pt>
                <c:pt idx="13">
                  <c:v>232190</c:v>
                </c:pt>
                <c:pt idx="14">
                  <c:v>258000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304-4123-B359-B5A768D6FC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2F2F2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[Dashboard.xlsx]Sheet5!PivotTable4</c:name>
    <c:fmtId val="5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Distribution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8062340033275646E-2"/>
              <c:y val="0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9906124311859437E-2"/>
              <c:y val="-3.9453017886381049E-17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4"/>
        <c:spPr>
          <a:solidFill>
            <a:schemeClr val="accent5">
              <a:shade val="38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5"/>
        <c:spPr>
          <a:solidFill>
            <a:schemeClr val="accent5">
              <a:shade val="4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6"/>
        <c:spPr>
          <a:solidFill>
            <a:schemeClr val="accent5">
              <a:shade val="5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7"/>
        <c:spPr>
          <a:solidFill>
            <a:schemeClr val="accent5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8"/>
        <c:spPr>
          <a:solidFill>
            <a:schemeClr val="accent5">
              <a:shade val="7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5">
              <a:shade val="8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0"/>
        <c:spPr>
          <a:solidFill>
            <a:schemeClr val="accent5">
              <a:shade val="91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5">
              <a:tint val="9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3"/>
        <c:spPr>
          <a:solidFill>
            <a:schemeClr val="accent5">
              <a:tint val="8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4"/>
        <c:spPr>
          <a:solidFill>
            <a:schemeClr val="accent5">
              <a:tint val="74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5"/>
        <c:spPr>
          <a:solidFill>
            <a:schemeClr val="accent5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6"/>
        <c:spPr>
          <a:solidFill>
            <a:schemeClr val="accent5">
              <a:tint val="57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8062340033275646E-2"/>
              <c:y val="0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7"/>
        <c:spPr>
          <a:solidFill>
            <a:schemeClr val="accent5">
              <a:tint val="4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9906124311859437E-2"/>
              <c:y val="-3.9453017886381049E-17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8"/>
        <c:spPr>
          <a:solidFill>
            <a:schemeClr val="accent5">
              <a:tint val="39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0"/>
        <c:spPr>
          <a:solidFill>
            <a:schemeClr val="accent5">
              <a:shade val="38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1"/>
        <c:spPr>
          <a:solidFill>
            <a:schemeClr val="accent5">
              <a:shade val="4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2"/>
        <c:spPr>
          <a:solidFill>
            <a:schemeClr val="accent5">
              <a:shade val="5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3"/>
        <c:spPr>
          <a:solidFill>
            <a:schemeClr val="accent5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4"/>
        <c:spPr>
          <a:solidFill>
            <a:schemeClr val="accent5">
              <a:shade val="7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5"/>
        <c:spPr>
          <a:solidFill>
            <a:schemeClr val="accent5">
              <a:shade val="8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6"/>
        <c:spPr>
          <a:solidFill>
            <a:schemeClr val="accent5">
              <a:shade val="91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68"/>
        <c:spPr>
          <a:solidFill>
            <a:schemeClr val="accent5">
              <a:tint val="92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9"/>
        <c:spPr>
          <a:solidFill>
            <a:schemeClr val="accent5">
              <a:tint val="8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0"/>
        <c:spPr>
          <a:solidFill>
            <a:schemeClr val="accent5">
              <a:tint val="74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1"/>
        <c:spPr>
          <a:solidFill>
            <a:schemeClr val="accent5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2"/>
        <c:spPr>
          <a:solidFill>
            <a:schemeClr val="accent5">
              <a:tint val="57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8062340033275646E-2"/>
              <c:y val="0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3"/>
        <c:spPr>
          <a:solidFill>
            <a:schemeClr val="accent5">
              <a:tint val="4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9906124311859437E-2"/>
              <c:y val="-3.9453017886381049E-17"/>
            </c:manualLayout>
          </c:layout>
          <c:spPr>
            <a:noFill/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4"/>
        <c:spPr>
          <a:solidFill>
            <a:schemeClr val="accent5">
              <a:tint val="39000"/>
            </a:schemeClr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Sheet5!$B$3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3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96-44A2-A6DF-4C053BD37CF8}"/>
              </c:ext>
            </c:extLst>
          </c:dPt>
          <c:dPt>
            <c:idx val="1"/>
            <c:bubble3D val="0"/>
            <c:spPr>
              <a:solidFill>
                <a:schemeClr val="accent5">
                  <a:shade val="4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96-44A2-A6DF-4C053BD37CF8}"/>
              </c:ext>
            </c:extLst>
          </c:dPt>
          <c:dPt>
            <c:idx val="2"/>
            <c:bubble3D val="0"/>
            <c:spPr>
              <a:solidFill>
                <a:schemeClr val="accent5">
                  <a:shade val="5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396-44A2-A6DF-4C053BD37CF8}"/>
              </c:ext>
            </c:extLst>
          </c:dPt>
          <c:dPt>
            <c:idx val="3"/>
            <c:bubble3D val="0"/>
            <c:spPr>
              <a:solidFill>
                <a:schemeClr val="accent5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396-44A2-A6DF-4C053BD37CF8}"/>
              </c:ext>
            </c:extLst>
          </c:dPt>
          <c:dPt>
            <c:idx val="4"/>
            <c:bubble3D val="0"/>
            <c:spPr>
              <a:solidFill>
                <a:schemeClr val="accent5">
                  <a:shade val="7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396-44A2-A6DF-4C053BD37CF8}"/>
              </c:ext>
            </c:extLst>
          </c:dPt>
          <c:dPt>
            <c:idx val="5"/>
            <c:bubble3D val="0"/>
            <c:spPr>
              <a:solidFill>
                <a:schemeClr val="accent5">
                  <a:shade val="82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396-44A2-A6DF-4C053BD37CF8}"/>
              </c:ext>
            </c:extLst>
          </c:dPt>
          <c:dPt>
            <c:idx val="6"/>
            <c:bubble3D val="0"/>
            <c:spPr>
              <a:solidFill>
                <a:schemeClr val="accent5">
                  <a:shade val="91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396-44A2-A6DF-4C053BD37CF8}"/>
              </c:ext>
            </c:extLst>
          </c:dPt>
          <c:dPt>
            <c:idx val="7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396-44A2-A6DF-4C053BD37CF8}"/>
              </c:ext>
            </c:extLst>
          </c:dPt>
          <c:dPt>
            <c:idx val="8"/>
            <c:bubble3D val="0"/>
            <c:spPr>
              <a:solidFill>
                <a:schemeClr val="accent5">
                  <a:tint val="92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3396-44A2-A6DF-4C053BD37CF8}"/>
              </c:ext>
            </c:extLst>
          </c:dPt>
          <c:dPt>
            <c:idx val="9"/>
            <c:bubble3D val="0"/>
            <c:spPr>
              <a:solidFill>
                <a:schemeClr val="accent5">
                  <a:tint val="8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396-44A2-A6DF-4C053BD37CF8}"/>
              </c:ext>
            </c:extLst>
          </c:dPt>
          <c:dPt>
            <c:idx val="10"/>
            <c:bubble3D val="0"/>
            <c:spPr>
              <a:solidFill>
                <a:schemeClr val="accent5">
                  <a:tint val="7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3396-44A2-A6DF-4C053BD37CF8}"/>
              </c:ext>
            </c:extLst>
          </c:dPt>
          <c:dPt>
            <c:idx val="11"/>
            <c:bubble3D val="0"/>
            <c:spPr>
              <a:solidFill>
                <a:schemeClr val="accent5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3396-44A2-A6DF-4C053BD37CF8}"/>
              </c:ext>
            </c:extLst>
          </c:dPt>
          <c:dPt>
            <c:idx val="12"/>
            <c:bubble3D val="0"/>
            <c:spPr>
              <a:solidFill>
                <a:schemeClr val="accent5">
                  <a:tint val="5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3396-44A2-A6DF-4C053BD37CF8}"/>
              </c:ext>
            </c:extLst>
          </c:dPt>
          <c:dPt>
            <c:idx val="13"/>
            <c:bubble3D val="0"/>
            <c:spPr>
              <a:solidFill>
                <a:schemeClr val="accent5">
                  <a:tint val="4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3396-44A2-A6DF-4C053BD37CF8}"/>
              </c:ext>
            </c:extLst>
          </c:dPt>
          <c:dPt>
            <c:idx val="14"/>
            <c:bubble3D val="0"/>
            <c:spPr>
              <a:solidFill>
                <a:schemeClr val="accent5">
                  <a:tint val="39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3396-44A2-A6DF-4C053BD37CF8}"/>
              </c:ext>
            </c:extLst>
          </c:dPt>
          <c:dLbls>
            <c:dLbl>
              <c:idx val="12"/>
              <c:layout>
                <c:manualLayout>
                  <c:x val="-3.8062340033275646E-2"/>
                  <c:y val="0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396-44A2-A6DF-4C053BD37CF8}"/>
                </c:ext>
              </c:extLst>
            </c:dLbl>
            <c:dLbl>
              <c:idx val="13"/>
              <c:layout>
                <c:manualLayout>
                  <c:x val="-2.9906124311859437E-2"/>
                  <c:y val="-3.9453017886381049E-17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396-44A2-A6DF-4C053BD37CF8}"/>
                </c:ext>
              </c:extLst>
            </c:dLbl>
            <c:spPr>
              <a:noFill/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Sheet5!$A$4:$A$19</c:f>
              <c:strCache>
                <c:ptCount val="15"/>
                <c:pt idx="0">
                  <c:v>Australia</c:v>
                </c:pt>
                <c:pt idx="1">
                  <c:v>Bahrain</c:v>
                </c:pt>
                <c:pt idx="2">
                  <c:v>Canada</c:v>
                </c:pt>
                <c:pt idx="3">
                  <c:v>Egypt</c:v>
                </c:pt>
                <c:pt idx="4">
                  <c:v>France</c:v>
                </c:pt>
                <c:pt idx="5">
                  <c:v>Germany</c:v>
                </c:pt>
                <c:pt idx="6">
                  <c:v>India</c:v>
                </c:pt>
                <c:pt idx="7">
                  <c:v>Jordan</c:v>
                </c:pt>
                <c:pt idx="8">
                  <c:v>Kuwait</c:v>
                </c:pt>
                <c:pt idx="9">
                  <c:v>Oman</c:v>
                </c:pt>
                <c:pt idx="10">
                  <c:v>Qatar</c:v>
                </c:pt>
                <c:pt idx="11">
                  <c:v>Saudi Arabia</c:v>
                </c:pt>
                <c:pt idx="12">
                  <c:v>UAE</c:v>
                </c:pt>
                <c:pt idx="13">
                  <c:v>United Kingdom</c:v>
                </c:pt>
                <c:pt idx="14">
                  <c:v>United States</c:v>
                </c:pt>
              </c:strCache>
            </c:strRef>
          </c:cat>
          <c:val>
            <c:numRef>
              <c:f>Sheet5!$B$4:$B$19</c:f>
              <c:numCache>
                <c:formatCode>General</c:formatCode>
                <c:ptCount val="15"/>
                <c:pt idx="0">
                  <c:v>280465</c:v>
                </c:pt>
                <c:pt idx="1">
                  <c:v>316630</c:v>
                </c:pt>
                <c:pt idx="2">
                  <c:v>205950</c:v>
                </c:pt>
                <c:pt idx="3">
                  <c:v>227505</c:v>
                </c:pt>
                <c:pt idx="4">
                  <c:v>200660</c:v>
                </c:pt>
                <c:pt idx="5">
                  <c:v>215525</c:v>
                </c:pt>
                <c:pt idx="6">
                  <c:v>215445</c:v>
                </c:pt>
                <c:pt idx="7">
                  <c:v>237775</c:v>
                </c:pt>
                <c:pt idx="8">
                  <c:v>340685</c:v>
                </c:pt>
                <c:pt idx="9">
                  <c:v>266730</c:v>
                </c:pt>
                <c:pt idx="10">
                  <c:v>346935</c:v>
                </c:pt>
                <c:pt idx="11">
                  <c:v>283125</c:v>
                </c:pt>
                <c:pt idx="12">
                  <c:v>232270</c:v>
                </c:pt>
                <c:pt idx="13">
                  <c:v>232190</c:v>
                </c:pt>
                <c:pt idx="14">
                  <c:v>258000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3396-44A2-A6DF-4C053BD37CF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2F2F2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[Dashboard.xlsx]Sheet12!PivotTable14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Sheet12!$A$4:$A$9</c:f>
              <c:strCache>
                <c:ptCount val="5"/>
                <c:pt idx="0">
                  <c:v>Mubarak Carter</c:v>
                </c:pt>
                <c:pt idx="1">
                  <c:v>Nada Reed</c:v>
                </c:pt>
                <c:pt idx="2">
                  <c:v>Dana Evans</c:v>
                </c:pt>
                <c:pt idx="3">
                  <c:v>Nour Rashid</c:v>
                </c:pt>
                <c:pt idx="4">
                  <c:v>Nasser Hall</c:v>
                </c:pt>
              </c:strCache>
            </c:strRef>
          </c:cat>
          <c:val>
            <c:numRef>
              <c:f>Sheet12!$B$4:$B$9</c:f>
              <c:numCache>
                <c:formatCode>_("$"* #,##0.00_);_("$"* \(#,##0.00\);_("$"* "-"??_);_(@_)</c:formatCode>
                <c:ptCount val="5"/>
                <c:pt idx="0">
                  <c:v>34350</c:v>
                </c:pt>
                <c:pt idx="1">
                  <c:v>33035</c:v>
                </c:pt>
                <c:pt idx="2">
                  <c:v>32575</c:v>
                </c:pt>
                <c:pt idx="3">
                  <c:v>29015</c:v>
                </c:pt>
                <c:pt idx="4">
                  <c:v>28670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0A-4143-8AE9-5C767310B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286629056"/>
        <c:axId val="1286630496"/>
      </c:barChart>
      <c:catAx>
        <c:axId val="1286629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630496"/>
        <c:crosses val="autoZero"/>
        <c:auto val="1"/>
        <c:lblAlgn val="ctr"/>
        <c:lblOffset val="100"/>
        <c:noMultiLvlLbl val="0"/>
      </c:catAx>
      <c:valAx>
        <c:axId val="1286630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62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[Dashboard.xlsx]Sheet11!PivotTable13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 Distribution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shade val="5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5">
              <a:shade val="7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5">
              <a:tint val="7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5">
              <a:tint val="54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5">
              <a:shade val="53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5">
              <a:shade val="7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5">
              <a:tint val="7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5">
              <a:tint val="54000"/>
            </a:schemeClr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Sheet11!$B$3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DB9-47C8-9666-E6C5AFD429F8}"/>
              </c:ext>
            </c:extLst>
          </c:dPt>
          <c:dPt>
            <c:idx val="1"/>
            <c:bubble3D val="0"/>
            <c:spPr>
              <a:solidFill>
                <a:schemeClr val="accent5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DB9-47C8-9666-E6C5AFD429F8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DB9-47C8-9666-E6C5AFD429F8}"/>
              </c:ext>
            </c:extLst>
          </c:dPt>
          <c:dPt>
            <c:idx val="3"/>
            <c:bubble3D val="0"/>
            <c:spPr>
              <a:solidFill>
                <a:schemeClr val="accent5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DB9-47C8-9666-E6C5AFD429F8}"/>
              </c:ext>
            </c:extLst>
          </c:dPt>
          <c:dPt>
            <c:idx val="4"/>
            <c:bubble3D val="0"/>
            <c:spPr>
              <a:solidFill>
                <a:schemeClr val="accent5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DB9-47C8-9666-E6C5AFD429F8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Sheet11!$A$4:$A$9</c:f>
              <c:strCache>
                <c:ptCount val="5"/>
                <c:pt idx="0">
                  <c:v>Canada</c:v>
                </c:pt>
                <c:pt idx="1">
                  <c:v>Egypt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</c:strCache>
            </c:strRef>
          </c:cat>
          <c:val>
            <c:numRef>
              <c:f>Sheet11!$B$4:$B$9</c:f>
              <c:numCache>
                <c:formatCode>General</c:formatCode>
                <c:ptCount val="5"/>
                <c:pt idx="0">
                  <c:v>205950</c:v>
                </c:pt>
                <c:pt idx="1">
                  <c:v>227505</c:v>
                </c:pt>
                <c:pt idx="2">
                  <c:v>200660</c:v>
                </c:pt>
                <c:pt idx="3">
                  <c:v>215525</c:v>
                </c:pt>
                <c:pt idx="4">
                  <c:v>215445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DB9-47C8-9666-E6C5AFD429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7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8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3689D-03CD-4FD4-AEE7-A9A6AEEB3A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922DE-8824-4F57-B541-6345F8156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922DE-8824-4F57-B541-6345F8156D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9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5598-59ED-7512-0D29-08FA343B0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C88D4-3B95-E7A2-FBDF-BB0E425AA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0B451-976D-2537-3BB0-036510FF1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1D3F9-BA72-F0B5-3BF3-3E5F6C66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74693-007F-AEA3-1C2D-92CE9237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2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561E-86E2-13B3-AD58-6DA7B75F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0FDF1-332C-165D-592E-EB17361CB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51F18-EAAB-8170-28A5-60F65568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9CD9F-0C12-15CC-0A79-F0EFC01B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CC802-A0AF-DAC5-5475-517CF884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0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A8B2-3DFD-4AD5-2361-9BC550205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9A868-6E3C-BCBD-1A53-76076581B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C0D33-FD48-2A28-76E2-B854CF20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22FE2-D1C5-F073-5F00-9032E153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0DB6E-EAD4-570B-6DF0-ECDA5D86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4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CDCC-E3C2-A64C-7ECA-AB85A755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2CC17-788C-3D1B-8BE1-5E126A3FD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F84EA-8F9C-9A28-8203-50DF67D1C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78CFF-97B0-3703-84EB-2F75DD7C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F2028-5DC1-F9CC-CC03-B327515D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7C207-3A96-B28E-2C21-8D214578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5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4CAB-6476-E8C8-CF66-6655CDC25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3BC5B-1DE0-C9AD-7311-095BA47BD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C2331-1484-1CC7-7580-CD9F1DEA5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DA299-515A-654E-B188-6807E5903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2FCB0B-80F5-CDCE-8F79-7D19644FE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5F6906-ED85-C9BB-AAC3-4F9AEB32F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43924-0A6C-7D7B-24E9-0DD2CEAA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50E51-AE94-DA62-FC9D-DC8CC48A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6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1394-6A0E-7B47-A6AB-969845E1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574AD-33ED-18C6-F353-3CBC0B55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93364-05D0-165D-4180-68EAB7F0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7DFB8-D5A6-C9AF-1FDF-0CF31B8D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8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C6157-F8E7-6C0D-A88E-59F0E3EB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1A72C-04AD-3A36-A928-1ED436A0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BD9F1-414D-9D95-D6C4-85F6899C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6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D814-98D0-4D36-FC3A-1E4ACBBD6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D05AC-7CEA-33F2-0856-C484F46BE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96712-DFAA-C193-2C91-9EEA30A78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528A7-DF06-870A-B446-76610288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F91D9-3DB8-4E54-4B2A-84BF20A0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DD60-8496-CB69-8DA6-97E1C476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9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2522-D693-17B9-B7AC-527328E7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410C3B-24A9-AB3A-32DA-4189EEED1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22108-EFD6-689A-CE09-F5FAC4795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AA36F-A268-1156-D2BE-F4A0AEB6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C841D-9798-48C1-D91C-8675FEBE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5BFB3-0D78-11B2-BE1E-27176E1A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3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D91D-7BDF-C452-8483-3EC184F8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E82B1-DCFB-8427-4100-18C395826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2D2D8-E349-2C29-8E2C-2358994B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EDE42-3986-0C34-D1D8-D3A19876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B4077-0A7D-5617-103E-20D06061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3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32F6D7-A17F-0BE8-4C19-C6B052218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2489A-957F-82C5-C51E-513350295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8D1EA-6606-B308-C1EA-1245F41E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B104F-ADF9-A010-E053-8B6D4158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ABD00-C3DC-CDD1-21F1-43489921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80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984534-C4A0-1744-A0AE-D418451B47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8AA7F-D0A5-5A42-9CC9-97FE64F0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>
              <a:defRPr lang="en-US" sz="3200" b="1">
                <a:solidFill>
                  <a:srgbClr val="FF008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874B27C-5679-5A49-A297-0FEF965A1A7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3769" y="775856"/>
            <a:ext cx="6720840" cy="415203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>
              <a:buNone/>
              <a:defRPr sz="2133" b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FE9D-85B0-112B-E157-1D838D8CBD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117" y="1579033"/>
            <a:ext cx="6923616" cy="43031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32749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E37AE8-B8C5-8168-ED75-F4733A5C7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69D04-B982-E4FE-D301-838A3CC6B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69B90-5E71-1F76-D520-95680D445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84D0A-B223-4461-9358-116D65D441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8503F-CD16-8851-9353-47D1006BF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5882D-D27B-EB4F-9BCD-3F542FFAD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36309-7F9F-4249-93B2-CAAD4C97F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7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B5B53A1-1777-7D62-79B3-AC2F954CA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739" y="86831"/>
            <a:ext cx="6742749" cy="6547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4E8023-9207-7C52-1A9B-82218E89CED8}"/>
              </a:ext>
            </a:extLst>
          </p:cNvPr>
          <p:cNvSpPr txBox="1"/>
          <p:nvPr/>
        </p:nvSpPr>
        <p:spPr>
          <a:xfrm>
            <a:off x="6952488" y="3201260"/>
            <a:ext cx="450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Al – Tamayuz Electronics Store Project</a:t>
            </a:r>
          </a:p>
          <a:p>
            <a:pPr algn="ctr"/>
            <a:r>
              <a:rPr lang="en-US" sz="1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Prepared by: </a:t>
            </a:r>
            <a:r>
              <a:rPr lang="en-US" sz="1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Karim Kamel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38EECF-37DE-9BA2-CCBE-AAEA1CC10F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CD963FC-DD0B-9DF7-E043-9D0E3899FEFA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4F1D32-0D3F-16B6-D649-6657AF8F3BE6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967245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m 21" descr="Uma imagem com escuridão, espaço, natureza&#10;&#10;Descrição gerada automaticamente">
            <a:extLst>
              <a:ext uri="{FF2B5EF4-FFF2-40B4-BE49-F238E27FC236}">
                <a16:creationId xmlns:a16="http://schemas.microsoft.com/office/drawing/2014/main" id="{8B62075E-1A8D-1751-0BD3-DE30886830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793" y="800830"/>
            <a:ext cx="12193793" cy="539588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3673358-006A-AE4A-41A4-CFEE67FE0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Agenda: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6" name="Retângulo 26">
            <a:extLst>
              <a:ext uri="{FF2B5EF4-FFF2-40B4-BE49-F238E27FC236}">
                <a16:creationId xmlns:a16="http://schemas.microsoft.com/office/drawing/2014/main" id="{7D33037D-FDFC-A0FA-7F2D-8CE77BA906E7}"/>
              </a:ext>
            </a:extLst>
          </p:cNvPr>
          <p:cNvSpPr/>
          <p:nvPr/>
        </p:nvSpPr>
        <p:spPr>
          <a:xfrm>
            <a:off x="1618114" y="2480063"/>
            <a:ext cx="1631869" cy="3160680"/>
          </a:xfrm>
          <a:prstGeom prst="roundRect">
            <a:avLst>
              <a:gd name="adj" fmla="val 10089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229367" dist="5165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 defTabSz="1219170">
              <a:defRPr/>
            </a:pPr>
            <a:endParaRPr lang="en-US" sz="1351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Freeform: Shape 18">
            <a:extLst>
              <a:ext uri="{FF2B5EF4-FFF2-40B4-BE49-F238E27FC236}">
                <a16:creationId xmlns:a16="http://schemas.microsoft.com/office/drawing/2014/main" id="{59EB51AC-8376-3880-DA55-298255DF8918}"/>
              </a:ext>
            </a:extLst>
          </p:cNvPr>
          <p:cNvSpPr/>
          <p:nvPr/>
        </p:nvSpPr>
        <p:spPr>
          <a:xfrm>
            <a:off x="1618114" y="3259709"/>
            <a:ext cx="1631869" cy="2203644"/>
          </a:xfrm>
          <a:custGeom>
            <a:avLst/>
            <a:gdLst>
              <a:gd name="connsiteX0" fmla="*/ 546 w 2243233"/>
              <a:gd name="connsiteY0" fmla="*/ 0 h 868495"/>
              <a:gd name="connsiteX1" fmla="*/ 2243233 w 2243233"/>
              <a:gd name="connsiteY1" fmla="*/ 0 h 868495"/>
              <a:gd name="connsiteX2" fmla="*/ 2243233 w 2243233"/>
              <a:gd name="connsiteY2" fmla="*/ 868495 h 868495"/>
              <a:gd name="connsiteX3" fmla="*/ 0 w 2243233"/>
              <a:gd name="connsiteY3" fmla="*/ 868495 h 86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233" h="868495">
                <a:moveTo>
                  <a:pt x="546" y="0"/>
                </a:moveTo>
                <a:lnTo>
                  <a:pt x="2243233" y="0"/>
                </a:lnTo>
                <a:lnTo>
                  <a:pt x="2243233" y="868495"/>
                </a:lnTo>
                <a:lnTo>
                  <a:pt x="0" y="868495"/>
                </a:lnTo>
                <a:close/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sz="1100" dirty="0"/>
              <a:t>Overview of the project’s goal: analyzing sales performance to support strategic decisions and business insights.</a:t>
            </a:r>
            <a:endParaRPr lang="en-US" sz="1067" b="1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CaixaDeTexto 74">
            <a:extLst>
              <a:ext uri="{FF2B5EF4-FFF2-40B4-BE49-F238E27FC236}">
                <a16:creationId xmlns:a16="http://schemas.microsoft.com/office/drawing/2014/main" id="{6C53D687-8F36-C818-F767-AFE9E163EA3A}"/>
              </a:ext>
            </a:extLst>
          </p:cNvPr>
          <p:cNvSpPr txBox="1"/>
          <p:nvPr/>
        </p:nvSpPr>
        <p:spPr>
          <a:xfrm>
            <a:off x="1618114" y="2909683"/>
            <a:ext cx="1631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defRPr/>
            </a:pPr>
            <a:r>
              <a:rPr lang="en-US" sz="800" b="1" kern="0" dirty="0">
                <a:solidFill>
                  <a:srgbClr val="8B1E81"/>
                </a:solidFill>
                <a:ea typeface="Noto Sans" panose="020B0502040504020204" pitchFamily="34"/>
                <a:cs typeface="Noto Sans" panose="020B0502040504020204" pitchFamily="34"/>
              </a:rPr>
              <a:t>Project Introduction</a:t>
            </a:r>
            <a:endParaRPr lang="pt-PT" sz="800" b="1" kern="0" dirty="0">
              <a:solidFill>
                <a:srgbClr val="000000"/>
              </a:solidFill>
            </a:endParaRPr>
          </a:p>
        </p:txBody>
      </p:sp>
      <p:sp>
        <p:nvSpPr>
          <p:cNvPr id="9" name="Retângulo 26">
            <a:extLst>
              <a:ext uri="{FF2B5EF4-FFF2-40B4-BE49-F238E27FC236}">
                <a16:creationId xmlns:a16="http://schemas.microsoft.com/office/drawing/2014/main" id="{817DFAC7-460A-706F-8267-6CD91E601AE6}"/>
              </a:ext>
            </a:extLst>
          </p:cNvPr>
          <p:cNvSpPr/>
          <p:nvPr/>
        </p:nvSpPr>
        <p:spPr>
          <a:xfrm>
            <a:off x="3444454" y="2480063"/>
            <a:ext cx="1631869" cy="3160680"/>
          </a:xfrm>
          <a:prstGeom prst="roundRect">
            <a:avLst>
              <a:gd name="adj" fmla="val 10089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229367" dist="5165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 defTabSz="1219170">
              <a:defRPr/>
            </a:pPr>
            <a:endParaRPr lang="en-US" sz="1351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CaixaDeTexto 92">
            <a:extLst>
              <a:ext uri="{FF2B5EF4-FFF2-40B4-BE49-F238E27FC236}">
                <a16:creationId xmlns:a16="http://schemas.microsoft.com/office/drawing/2014/main" id="{AF0570E2-6D67-9EDB-AB7E-767AB02D6735}"/>
              </a:ext>
            </a:extLst>
          </p:cNvPr>
          <p:cNvSpPr txBox="1"/>
          <p:nvPr/>
        </p:nvSpPr>
        <p:spPr>
          <a:xfrm>
            <a:off x="3444454" y="2909683"/>
            <a:ext cx="1631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defRPr/>
            </a:pPr>
            <a:r>
              <a:rPr lang="en-US" sz="800" b="1" kern="0" dirty="0">
                <a:solidFill>
                  <a:srgbClr val="8B1E81"/>
                </a:solidFill>
                <a:ea typeface="Noto Sans" panose="020B0502040504020204" pitchFamily="34"/>
                <a:cs typeface="Noto Sans" panose="020B0502040504020204" pitchFamily="34"/>
              </a:rPr>
              <a:t>Database overview</a:t>
            </a:r>
            <a:endParaRPr lang="pt-PT" sz="800" b="1" kern="0" dirty="0">
              <a:solidFill>
                <a:srgbClr val="000000"/>
              </a:solidFill>
            </a:endParaRPr>
          </a:p>
        </p:txBody>
      </p:sp>
      <p:sp>
        <p:nvSpPr>
          <p:cNvPr id="11" name="Retângulo 26">
            <a:extLst>
              <a:ext uri="{FF2B5EF4-FFF2-40B4-BE49-F238E27FC236}">
                <a16:creationId xmlns:a16="http://schemas.microsoft.com/office/drawing/2014/main" id="{5A19F3E9-6F3A-D557-F8E4-B9AA3BDA8D39}"/>
              </a:ext>
            </a:extLst>
          </p:cNvPr>
          <p:cNvSpPr/>
          <p:nvPr/>
        </p:nvSpPr>
        <p:spPr>
          <a:xfrm>
            <a:off x="5276975" y="2480063"/>
            <a:ext cx="1631869" cy="3160680"/>
          </a:xfrm>
          <a:prstGeom prst="roundRect">
            <a:avLst>
              <a:gd name="adj" fmla="val 10089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229367" dist="5165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 defTabSz="1219170">
              <a:defRPr/>
            </a:pPr>
            <a:endParaRPr lang="en-US" sz="1351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CaixaDeTexto 101">
            <a:extLst>
              <a:ext uri="{FF2B5EF4-FFF2-40B4-BE49-F238E27FC236}">
                <a16:creationId xmlns:a16="http://schemas.microsoft.com/office/drawing/2014/main" id="{E82CE136-B2D6-5E5E-EDB4-83FFF4315E13}"/>
              </a:ext>
            </a:extLst>
          </p:cNvPr>
          <p:cNvSpPr txBox="1"/>
          <p:nvPr/>
        </p:nvSpPr>
        <p:spPr>
          <a:xfrm>
            <a:off x="5276975" y="2909683"/>
            <a:ext cx="1631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defRPr/>
            </a:pPr>
            <a:r>
              <a:rPr lang="en-US" sz="800" b="1" kern="0" dirty="0">
                <a:solidFill>
                  <a:srgbClr val="8B1E81"/>
                </a:solidFill>
                <a:ea typeface="Noto Sans" panose="020B0502040504020204" pitchFamily="34"/>
                <a:cs typeface="Noto Sans" panose="020B0502040504020204" pitchFamily="34"/>
              </a:rPr>
              <a:t>SQL Analysis &amp; Metrics</a:t>
            </a:r>
            <a:endParaRPr lang="pt-PT" sz="800" b="1" kern="0" dirty="0">
              <a:solidFill>
                <a:srgbClr val="000000"/>
              </a:solidFill>
            </a:endParaRPr>
          </a:p>
        </p:txBody>
      </p:sp>
      <p:sp>
        <p:nvSpPr>
          <p:cNvPr id="13" name="Retângulo 26">
            <a:extLst>
              <a:ext uri="{FF2B5EF4-FFF2-40B4-BE49-F238E27FC236}">
                <a16:creationId xmlns:a16="http://schemas.microsoft.com/office/drawing/2014/main" id="{0FFD8E7B-864F-6CE9-8EBD-87C05F91A3E6}"/>
              </a:ext>
            </a:extLst>
          </p:cNvPr>
          <p:cNvSpPr/>
          <p:nvPr/>
        </p:nvSpPr>
        <p:spPr>
          <a:xfrm>
            <a:off x="7109496" y="2480063"/>
            <a:ext cx="1631869" cy="3160680"/>
          </a:xfrm>
          <a:prstGeom prst="roundRect">
            <a:avLst>
              <a:gd name="adj" fmla="val 10089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229367" dist="5165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 defTabSz="1219170">
              <a:defRPr/>
            </a:pPr>
            <a:endParaRPr lang="en-US" sz="1351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CaixaDeTexto 110">
            <a:extLst>
              <a:ext uri="{FF2B5EF4-FFF2-40B4-BE49-F238E27FC236}">
                <a16:creationId xmlns:a16="http://schemas.microsoft.com/office/drawing/2014/main" id="{46001C4B-1447-9168-9BFA-56181F8CBA0E}"/>
              </a:ext>
            </a:extLst>
          </p:cNvPr>
          <p:cNvSpPr txBox="1"/>
          <p:nvPr/>
        </p:nvSpPr>
        <p:spPr>
          <a:xfrm>
            <a:off x="7109496" y="2909683"/>
            <a:ext cx="1631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defRPr/>
            </a:pPr>
            <a:r>
              <a:rPr lang="en-US" sz="800" b="1" kern="0" dirty="0">
                <a:solidFill>
                  <a:srgbClr val="8B1E81"/>
                </a:solidFill>
                <a:ea typeface="Noto Sans" panose="020B0502040504020204" pitchFamily="34"/>
                <a:cs typeface="Noto Sans" panose="020B0502040504020204" pitchFamily="34"/>
              </a:rPr>
              <a:t>Dashboard &amp; Visualizations</a:t>
            </a:r>
            <a:endParaRPr lang="pt-PT" sz="800" b="1" kern="0" dirty="0">
              <a:solidFill>
                <a:srgbClr val="000000"/>
              </a:solidFill>
            </a:endParaRPr>
          </a:p>
        </p:txBody>
      </p:sp>
      <p:sp>
        <p:nvSpPr>
          <p:cNvPr id="15" name="Retângulo 26">
            <a:extLst>
              <a:ext uri="{FF2B5EF4-FFF2-40B4-BE49-F238E27FC236}">
                <a16:creationId xmlns:a16="http://schemas.microsoft.com/office/drawing/2014/main" id="{7C88A40E-FF01-2C2B-2A3A-F7370729A0A2}"/>
              </a:ext>
            </a:extLst>
          </p:cNvPr>
          <p:cNvSpPr/>
          <p:nvPr/>
        </p:nvSpPr>
        <p:spPr>
          <a:xfrm>
            <a:off x="8942018" y="2480063"/>
            <a:ext cx="1631869" cy="3160680"/>
          </a:xfrm>
          <a:prstGeom prst="roundRect">
            <a:avLst>
              <a:gd name="adj" fmla="val 10089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229367" dist="5165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 defTabSz="1219170">
              <a:defRPr/>
            </a:pPr>
            <a:endParaRPr lang="en-US" sz="1351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CaixaDeTexto 119">
            <a:extLst>
              <a:ext uri="{FF2B5EF4-FFF2-40B4-BE49-F238E27FC236}">
                <a16:creationId xmlns:a16="http://schemas.microsoft.com/office/drawing/2014/main" id="{88C0CF48-8DE6-3707-A90A-0F062C75B777}"/>
              </a:ext>
            </a:extLst>
          </p:cNvPr>
          <p:cNvSpPr txBox="1"/>
          <p:nvPr/>
        </p:nvSpPr>
        <p:spPr>
          <a:xfrm>
            <a:off x="8942018" y="2909683"/>
            <a:ext cx="1631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defRPr/>
            </a:pPr>
            <a:r>
              <a:rPr lang="en-US" sz="800" b="1" kern="0" dirty="0">
                <a:solidFill>
                  <a:srgbClr val="8B1E81"/>
                </a:solidFill>
                <a:ea typeface="Noto Sans" panose="020B0502040504020204" pitchFamily="34"/>
                <a:cs typeface="Noto Sans" panose="020B0502040504020204" pitchFamily="34"/>
              </a:rPr>
              <a:t>Insights &amp; Recommendations</a:t>
            </a:r>
            <a:endParaRPr lang="pt-PT" sz="800" b="1" kern="0" dirty="0">
              <a:solidFill>
                <a:srgbClr val="00000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2C2E8A-5DC7-6436-44BF-ACD1CE3700B9}"/>
              </a:ext>
            </a:extLst>
          </p:cNvPr>
          <p:cNvSpPr/>
          <p:nvPr/>
        </p:nvSpPr>
        <p:spPr>
          <a:xfrm>
            <a:off x="2154197" y="2199453"/>
            <a:ext cx="559703" cy="559703"/>
          </a:xfrm>
          <a:prstGeom prst="ellipse">
            <a:avLst/>
          </a:prstGeom>
          <a:solidFill>
            <a:srgbClr val="814DAD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sz="2400" kern="0" dirty="0">
                <a:solidFill>
                  <a:srgbClr val="FFFFFF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5CA87D0-D635-8E21-9177-5281157F3AA6}"/>
              </a:ext>
            </a:extLst>
          </p:cNvPr>
          <p:cNvSpPr/>
          <p:nvPr/>
        </p:nvSpPr>
        <p:spPr>
          <a:xfrm>
            <a:off x="3980537" y="2199453"/>
            <a:ext cx="559703" cy="559703"/>
          </a:xfrm>
          <a:prstGeom prst="ellipse">
            <a:avLst/>
          </a:prstGeom>
          <a:solidFill>
            <a:srgbClr val="814DAD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2400" kern="0" dirty="0">
                <a:solidFill>
                  <a:srgbClr val="FFFFFF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FF8639-920B-FF93-95AE-6EDA430A5366}"/>
              </a:ext>
            </a:extLst>
          </p:cNvPr>
          <p:cNvSpPr/>
          <p:nvPr/>
        </p:nvSpPr>
        <p:spPr>
          <a:xfrm>
            <a:off x="5816150" y="2199453"/>
            <a:ext cx="559703" cy="559703"/>
          </a:xfrm>
          <a:prstGeom prst="ellipse">
            <a:avLst/>
          </a:prstGeom>
          <a:solidFill>
            <a:srgbClr val="814DAD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2400" kern="0" dirty="0">
                <a:solidFill>
                  <a:srgbClr val="FFFFFF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B4A2BB8-1C56-1AA9-E257-69F703952266}"/>
              </a:ext>
            </a:extLst>
          </p:cNvPr>
          <p:cNvSpPr/>
          <p:nvPr/>
        </p:nvSpPr>
        <p:spPr>
          <a:xfrm>
            <a:off x="7642490" y="2199453"/>
            <a:ext cx="559703" cy="559703"/>
          </a:xfrm>
          <a:prstGeom prst="ellipse">
            <a:avLst/>
          </a:prstGeom>
          <a:solidFill>
            <a:srgbClr val="814DAD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2400" kern="0" dirty="0">
                <a:solidFill>
                  <a:srgbClr val="FFFFFF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7E79EEB-E2D0-7941-410E-251E98CA006B}"/>
              </a:ext>
            </a:extLst>
          </p:cNvPr>
          <p:cNvSpPr/>
          <p:nvPr/>
        </p:nvSpPr>
        <p:spPr>
          <a:xfrm>
            <a:off x="9478101" y="2199453"/>
            <a:ext cx="559703" cy="559703"/>
          </a:xfrm>
          <a:prstGeom prst="ellipse">
            <a:avLst/>
          </a:prstGeom>
          <a:solidFill>
            <a:srgbClr val="814DAD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2400" kern="0" dirty="0">
                <a:solidFill>
                  <a:srgbClr val="FFFFFF"/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47" name="Freeform: Shape 18">
            <a:extLst>
              <a:ext uri="{FF2B5EF4-FFF2-40B4-BE49-F238E27FC236}">
                <a16:creationId xmlns:a16="http://schemas.microsoft.com/office/drawing/2014/main" id="{C5A405AC-9A14-6608-C1E3-9CC53F4F798E}"/>
              </a:ext>
            </a:extLst>
          </p:cNvPr>
          <p:cNvSpPr/>
          <p:nvPr/>
        </p:nvSpPr>
        <p:spPr>
          <a:xfrm>
            <a:off x="3444454" y="3259709"/>
            <a:ext cx="1631869" cy="2203644"/>
          </a:xfrm>
          <a:custGeom>
            <a:avLst/>
            <a:gdLst>
              <a:gd name="connsiteX0" fmla="*/ 546 w 2243233"/>
              <a:gd name="connsiteY0" fmla="*/ 0 h 868495"/>
              <a:gd name="connsiteX1" fmla="*/ 2243233 w 2243233"/>
              <a:gd name="connsiteY1" fmla="*/ 0 h 868495"/>
              <a:gd name="connsiteX2" fmla="*/ 2243233 w 2243233"/>
              <a:gd name="connsiteY2" fmla="*/ 868495 h 868495"/>
              <a:gd name="connsiteX3" fmla="*/ 0 w 2243233"/>
              <a:gd name="connsiteY3" fmla="*/ 868495 h 86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233" h="868495">
                <a:moveTo>
                  <a:pt x="546" y="0"/>
                </a:moveTo>
                <a:lnTo>
                  <a:pt x="2243233" y="0"/>
                </a:lnTo>
                <a:lnTo>
                  <a:pt x="2243233" y="868495"/>
                </a:lnTo>
                <a:lnTo>
                  <a:pt x="0" y="868495"/>
                </a:lnTo>
                <a:close/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sz="1100" dirty="0"/>
              <a:t>Brief explanation of the ERD Diagram, tables (Customers, Products, Sales), key attributes, and dataset summary.</a:t>
            </a:r>
            <a:endParaRPr lang="en-US" sz="1067" b="1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48" name="Freeform: Shape 18">
            <a:extLst>
              <a:ext uri="{FF2B5EF4-FFF2-40B4-BE49-F238E27FC236}">
                <a16:creationId xmlns:a16="http://schemas.microsoft.com/office/drawing/2014/main" id="{AFF1460B-362A-C790-DCDD-3BA2FA5EA334}"/>
              </a:ext>
            </a:extLst>
          </p:cNvPr>
          <p:cNvSpPr/>
          <p:nvPr/>
        </p:nvSpPr>
        <p:spPr>
          <a:xfrm>
            <a:off x="5292696" y="3259709"/>
            <a:ext cx="1631869" cy="2203644"/>
          </a:xfrm>
          <a:custGeom>
            <a:avLst/>
            <a:gdLst>
              <a:gd name="connsiteX0" fmla="*/ 546 w 2243233"/>
              <a:gd name="connsiteY0" fmla="*/ 0 h 868495"/>
              <a:gd name="connsiteX1" fmla="*/ 2243233 w 2243233"/>
              <a:gd name="connsiteY1" fmla="*/ 0 h 868495"/>
              <a:gd name="connsiteX2" fmla="*/ 2243233 w 2243233"/>
              <a:gd name="connsiteY2" fmla="*/ 868495 h 868495"/>
              <a:gd name="connsiteX3" fmla="*/ 0 w 2243233"/>
              <a:gd name="connsiteY3" fmla="*/ 868495 h 86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233" h="868495">
                <a:moveTo>
                  <a:pt x="546" y="0"/>
                </a:moveTo>
                <a:lnTo>
                  <a:pt x="2243233" y="0"/>
                </a:lnTo>
                <a:lnTo>
                  <a:pt x="2243233" y="868495"/>
                </a:lnTo>
                <a:lnTo>
                  <a:pt x="0" y="868495"/>
                </a:lnTo>
                <a:close/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sz="1100" dirty="0"/>
              <a:t>Key queries and calculations: Total Revenue, Total_Value, Category Performance, Customer Ranking, and High-Value Products.</a:t>
            </a:r>
            <a:endParaRPr lang="en-US" sz="1067" b="1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49" name="Freeform: Shape 18">
            <a:extLst>
              <a:ext uri="{FF2B5EF4-FFF2-40B4-BE49-F238E27FC236}">
                <a16:creationId xmlns:a16="http://schemas.microsoft.com/office/drawing/2014/main" id="{DE4D701C-AF2D-885E-A729-CE959027654C}"/>
              </a:ext>
            </a:extLst>
          </p:cNvPr>
          <p:cNvSpPr/>
          <p:nvPr/>
        </p:nvSpPr>
        <p:spPr>
          <a:xfrm>
            <a:off x="7125218" y="3259709"/>
            <a:ext cx="1631869" cy="2203644"/>
          </a:xfrm>
          <a:custGeom>
            <a:avLst/>
            <a:gdLst>
              <a:gd name="connsiteX0" fmla="*/ 546 w 2243233"/>
              <a:gd name="connsiteY0" fmla="*/ 0 h 868495"/>
              <a:gd name="connsiteX1" fmla="*/ 2243233 w 2243233"/>
              <a:gd name="connsiteY1" fmla="*/ 0 h 868495"/>
              <a:gd name="connsiteX2" fmla="*/ 2243233 w 2243233"/>
              <a:gd name="connsiteY2" fmla="*/ 868495 h 868495"/>
              <a:gd name="connsiteX3" fmla="*/ 0 w 2243233"/>
              <a:gd name="connsiteY3" fmla="*/ 868495 h 86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233" h="868495">
                <a:moveTo>
                  <a:pt x="546" y="0"/>
                </a:moveTo>
                <a:lnTo>
                  <a:pt x="2243233" y="0"/>
                </a:lnTo>
                <a:lnTo>
                  <a:pt x="2243233" y="868495"/>
                </a:lnTo>
                <a:lnTo>
                  <a:pt x="0" y="868495"/>
                </a:lnTo>
                <a:close/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sz="1050" dirty="0"/>
              <a:t>Overview of Excel dashboard: KPIs (Total Revenue, Units Sold), Pie Chart for country distribution, Bar Chart for category revenue, and interactive slicers.</a:t>
            </a:r>
          </a:p>
        </p:txBody>
      </p:sp>
      <p:sp>
        <p:nvSpPr>
          <p:cNvPr id="50" name="Freeform: Shape 18">
            <a:extLst>
              <a:ext uri="{FF2B5EF4-FFF2-40B4-BE49-F238E27FC236}">
                <a16:creationId xmlns:a16="http://schemas.microsoft.com/office/drawing/2014/main" id="{F0E2A405-374E-3E95-C963-1DBCCCCE4F91}"/>
              </a:ext>
            </a:extLst>
          </p:cNvPr>
          <p:cNvSpPr/>
          <p:nvPr/>
        </p:nvSpPr>
        <p:spPr>
          <a:xfrm>
            <a:off x="8930612" y="3259709"/>
            <a:ext cx="1631869" cy="2203644"/>
          </a:xfrm>
          <a:custGeom>
            <a:avLst/>
            <a:gdLst>
              <a:gd name="connsiteX0" fmla="*/ 546 w 2243233"/>
              <a:gd name="connsiteY0" fmla="*/ 0 h 868495"/>
              <a:gd name="connsiteX1" fmla="*/ 2243233 w 2243233"/>
              <a:gd name="connsiteY1" fmla="*/ 0 h 868495"/>
              <a:gd name="connsiteX2" fmla="*/ 2243233 w 2243233"/>
              <a:gd name="connsiteY2" fmla="*/ 868495 h 868495"/>
              <a:gd name="connsiteX3" fmla="*/ 0 w 2243233"/>
              <a:gd name="connsiteY3" fmla="*/ 868495 h 86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233" h="868495">
                <a:moveTo>
                  <a:pt x="546" y="0"/>
                </a:moveTo>
                <a:lnTo>
                  <a:pt x="2243233" y="0"/>
                </a:lnTo>
                <a:lnTo>
                  <a:pt x="2243233" y="868495"/>
                </a:lnTo>
                <a:lnTo>
                  <a:pt x="0" y="868495"/>
                </a:lnTo>
                <a:close/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sz="1100" dirty="0"/>
              <a:t>Summary of key findings: top-performing countries, categories, and customers, plus optimization suggestions for scaling the database and improving reporting. </a:t>
            </a:r>
          </a:p>
          <a:p>
            <a:pPr algn="ctr" defTabSz="1219170">
              <a:defRPr/>
            </a:pPr>
            <a:endParaRPr lang="en-US" sz="1067" kern="0" noProof="1">
              <a:solidFill>
                <a:srgbClr val="000000">
                  <a:lumMod val="95000"/>
                  <a:lumOff val="5000"/>
                </a:srgbClr>
              </a:solidFill>
              <a:latin typeface="Calibri" panose="020F0502020204030204"/>
            </a:endParaRPr>
          </a:p>
          <a:p>
            <a:pPr algn="ctr" defTabSz="1219170">
              <a:defRPr/>
            </a:pPr>
            <a:endParaRPr lang="en-US" sz="1067" b="1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277EAE5-D522-96D9-6515-DCBD9C7DC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B06CE2D-DAE8-97CD-A05A-5C119197AAE1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B542D1-A139-69A6-6DEA-509603A813D0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4845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95727-F755-098C-3ED2-A8985566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132B355-D4D3-C05B-4170-5F45824EB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175291C-44F9-B64A-360E-B0EAE29893E0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53E228-5416-B51C-96C6-2896CAA6FF6A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42252B1-4771-C542-261F-15B4A3F1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Project Overview: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AF419-FDD1-C003-84C0-677C32B36432}"/>
              </a:ext>
            </a:extLst>
          </p:cNvPr>
          <p:cNvSpPr txBox="1"/>
          <p:nvPr/>
        </p:nvSpPr>
        <p:spPr>
          <a:xfrm>
            <a:off x="383769" y="1117565"/>
            <a:ext cx="11330711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The project is based on a database containing </a:t>
            </a:r>
            <a:r>
              <a:rPr lang="en-US" b="1" dirty="0"/>
              <a:t>300 customers, 100 products, and 5,000 sales transactions</a:t>
            </a:r>
            <a:r>
              <a:rPr lang="en-US" dirty="0"/>
              <a:t> across multiple product categories such as Tech, Sports, Home &amp; Kitchen, Furniture, and Accessories.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 </a:t>
            </a:r>
            <a:r>
              <a:rPr lang="en-US" b="1" dirty="0"/>
              <a:t>comprehensive analysis</a:t>
            </a:r>
            <a:r>
              <a:rPr lang="en-US" dirty="0"/>
              <a:t> was performed to examine sales trends, total revenue, product performance, and customer behavior.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The results are presented in an </a:t>
            </a:r>
            <a:r>
              <a:rPr lang="en-US" b="1" dirty="0"/>
              <a:t>interactive Excel dashboard</a:t>
            </a:r>
            <a:r>
              <a:rPr lang="en-US" dirty="0"/>
              <a:t>, featuring: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Key metrics (KPIs):</a:t>
            </a:r>
            <a:r>
              <a:rPr lang="en-US" dirty="0"/>
              <a:t> Total Revenue, Total Units Sold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Visualizations:</a:t>
            </a:r>
            <a:r>
              <a:rPr lang="en-US" dirty="0"/>
              <a:t> Pie Chart showing sales distribution by country and Bar Chart showing revenue by product category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Interactive elements:</a:t>
            </a:r>
            <a:r>
              <a:rPr lang="en-US" dirty="0"/>
              <a:t> Slicers for filtering by country and time 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This dashboard provides a </a:t>
            </a:r>
            <a:r>
              <a:rPr lang="en-US" b="1" dirty="0"/>
              <a:t>clear, visual summary of sales performance</a:t>
            </a:r>
            <a:r>
              <a:rPr lang="en-US" dirty="0"/>
              <a:t>, enabling quick insights into top-performing products, customers, and regions.</a:t>
            </a:r>
          </a:p>
        </p:txBody>
      </p:sp>
    </p:spTree>
    <p:extLst>
      <p:ext uri="{BB962C8B-B14F-4D97-AF65-F5344CB8AC3E}">
        <p14:creationId xmlns:p14="http://schemas.microsoft.com/office/powerpoint/2010/main" val="808141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6013D9-41A5-6A00-114C-AE98E2B90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BBC19B-BD51-FED0-3A5C-0507FA4A7F94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0E5464-0B75-F583-4A34-71D4AEADD257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B5200F-9F4D-CC39-61A8-1F1BC6D74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01" y="2201458"/>
            <a:ext cx="11529197" cy="2455084"/>
          </a:xfrm>
          <a:prstGeom prst="rect">
            <a:avLst/>
          </a:prstGeom>
        </p:spPr>
      </p:pic>
      <p:sp>
        <p:nvSpPr>
          <p:cNvPr id="13" name="Title 3">
            <a:extLst>
              <a:ext uri="{FF2B5EF4-FFF2-40B4-BE49-F238E27FC236}">
                <a16:creationId xmlns:a16="http://schemas.microsoft.com/office/drawing/2014/main" id="{208DD135-E2EE-F8D8-8C3A-9D332300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Entity Relationship Diagram:</a:t>
            </a:r>
            <a:endParaRPr lang="en-BR" dirty="0">
              <a:solidFill>
                <a:srgbClr val="814DA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9190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13542-D1C2-908C-59D0-D25CE7F4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E12D54-F0E9-70A9-E671-6069AE27D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61D079-BED9-B1AD-918E-9905978EA2C1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DDB5A7-618D-A8A8-1011-371CFAD3E526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4D541096-BEE7-F942-B62E-DBE44BE3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Normalization:</a:t>
            </a:r>
            <a:endParaRPr lang="en-BR" dirty="0">
              <a:solidFill>
                <a:srgbClr val="814DAD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053188-29AA-B52D-BB40-189250DA2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572229"/>
              </p:ext>
            </p:extLst>
          </p:nvPr>
        </p:nvGraphicFramePr>
        <p:xfrm>
          <a:off x="383769" y="1560101"/>
          <a:ext cx="8128000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559548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981496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68109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88040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Customer_ID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Signup_Date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31030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BEA2512B-5F16-A6E9-9447-9E6CFD63917C}"/>
              </a:ext>
            </a:extLst>
          </p:cNvPr>
          <p:cNvSpPr txBox="1">
            <a:spLocks/>
          </p:cNvSpPr>
          <p:nvPr/>
        </p:nvSpPr>
        <p:spPr>
          <a:xfrm>
            <a:off x="593319" y="1060704"/>
            <a:ext cx="6720840" cy="49939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>
                <a:solidFill>
                  <a:srgbClr val="FF008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814DAD"/>
                </a:solidFill>
              </a:rPr>
              <a:t>Customers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4605481-7D39-9E03-D79C-CA9C69DC0CC3}"/>
              </a:ext>
            </a:extLst>
          </p:cNvPr>
          <p:cNvSpPr txBox="1">
            <a:spLocks/>
          </p:cNvSpPr>
          <p:nvPr/>
        </p:nvSpPr>
        <p:spPr>
          <a:xfrm>
            <a:off x="593319" y="2360671"/>
            <a:ext cx="6720840" cy="49939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>
                <a:solidFill>
                  <a:srgbClr val="FF008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814DAD"/>
                </a:solidFill>
              </a:rPr>
              <a:t>Sales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703811-C885-BCF2-EC2D-DC9BE1D1F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315780"/>
              </p:ext>
            </p:extLst>
          </p:nvPr>
        </p:nvGraphicFramePr>
        <p:xfrm>
          <a:off x="383769" y="2918958"/>
          <a:ext cx="8128000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405198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096428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747623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1016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89151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Sale_ID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Customer_ID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Sale_Date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870778"/>
                  </a:ext>
                </a:extLst>
              </a:tr>
            </a:tbl>
          </a:graphicData>
        </a:graphic>
      </p:graphicFrame>
      <p:sp>
        <p:nvSpPr>
          <p:cNvPr id="7" name="Title 3">
            <a:extLst>
              <a:ext uri="{FF2B5EF4-FFF2-40B4-BE49-F238E27FC236}">
                <a16:creationId xmlns:a16="http://schemas.microsoft.com/office/drawing/2014/main" id="{45265B81-6F59-3A97-6C3D-ED6DD23EFD47}"/>
              </a:ext>
            </a:extLst>
          </p:cNvPr>
          <p:cNvSpPr txBox="1">
            <a:spLocks/>
          </p:cNvSpPr>
          <p:nvPr/>
        </p:nvSpPr>
        <p:spPr>
          <a:xfrm>
            <a:off x="593319" y="3778418"/>
            <a:ext cx="6720840" cy="49939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>
                <a:solidFill>
                  <a:srgbClr val="FF008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814DAD"/>
                </a:solidFill>
              </a:rPr>
              <a:t>Products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630ED93-32E3-43A8-A6D2-D56505DEE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82191"/>
              </p:ext>
            </p:extLst>
          </p:nvPr>
        </p:nvGraphicFramePr>
        <p:xfrm>
          <a:off x="383769" y="4395595"/>
          <a:ext cx="8128000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215352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027414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09810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09510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Product_Name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6911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22994E3-186D-5F05-1116-9D13584A7440}"/>
              </a:ext>
            </a:extLst>
          </p:cNvPr>
          <p:cNvSpPr txBox="1"/>
          <p:nvPr/>
        </p:nvSpPr>
        <p:spPr>
          <a:xfrm>
            <a:off x="383769" y="5331125"/>
            <a:ext cx="110767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database is normalized up to </a:t>
            </a:r>
            <a:r>
              <a:rPr lang="en-US" sz="1400" b="1" dirty="0"/>
              <a:t>Third Normal Form (3NF)</a:t>
            </a:r>
            <a:r>
              <a:rPr lang="en-US" sz="1400" dirty="0"/>
              <a:t>. Each table has a clear primary key, and the Sales table works as a bridge table between Customers and Products. All non-key attributes depend only on their table’s primary key, and there are no repeating groups or many-to-many relationships stored directly inside one table.</a:t>
            </a:r>
          </a:p>
        </p:txBody>
      </p:sp>
    </p:spTree>
    <p:extLst>
      <p:ext uri="{BB962C8B-B14F-4D97-AF65-F5344CB8AC3E}">
        <p14:creationId xmlns:p14="http://schemas.microsoft.com/office/powerpoint/2010/main" val="4228928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B3C07-CFCE-AF73-8FE7-63745EE46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3E16896-F77D-B790-3C34-E19575413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3EA4CB3-7354-B57B-04CA-5FDB0052F53A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CAC83-E2E0-C90A-D628-232A1EBFF3B5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E558AE79-733E-50F8-5C6E-EA63EE77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42F5E-C4DE-E99E-354D-AB9E212714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" t="131" r="-1841" b="30269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30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475F-C48B-2BAB-0E80-902086DF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8CBDA1-94D5-3B83-4D3B-099998591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1C840BF-5969-78DB-4593-72E832EDFA88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4292B6-8852-C584-F2E8-D6AF3636B62E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43ADA6FD-9DD3-44C6-FBA3-37323E77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44E72-BB48-2937-671F-D67649BDF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" t="131" r="-1841" b="30269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9F4E16-7C4F-7A48-BB4C-957783942C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400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48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6F504-9264-17EB-2844-0D569B777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792917-2033-164E-3DB3-0B02AE1E0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FCFBFC-EFEC-AC7F-19FA-2D6D583BE068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3BCF7-6533-B740-5011-50E39295E71F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29EF1E0-D793-F437-7E2A-4A416A732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7DD41-8D02-2152-6525-93A88F36E4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" t="131" r="-1841" b="30269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8A6218-BEFD-E0DC-1C22-3650E4BCDD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400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DB5CD1-BBF4-37F3-DAAD-D30D0E1C64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985"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3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A62C1-C8DB-FC49-F1A2-D07D224CB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C6AAA63-47B9-F446-FA25-89328C171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31EA58-0FA1-0CD0-49D0-E0F3706C128C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0EC437-100C-6D0D-75C3-DA78B54FC219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5F9ED40A-062F-B443-C7D2-E1A83EE9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ED713-0408-2E71-7BB7-2D9AEC3B74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" t="131" r="-1841" b="30269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29A9BC-DA12-84D4-886C-FECD20B6C0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400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3CD6EF-70C9-AE32-7D46-7C17CF4B61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985"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2CBCC7-E391-E2B4-3756-56B958BAE3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44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1255-B475-2112-EBE2-5403DEF0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215E3DB-65D8-3FB5-2739-25685C4EF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3629EF7-5225-EEDF-6295-2A303362AB51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E1F4C-2F52-0B42-ECE1-F8562F65750C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171C76D-75F5-2339-B8E6-E21715A6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C31FB-9041-D3DA-8903-5F5F6C3443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" t="131" r="-1841" b="30269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41968-E16E-590F-A6AD-28329C4568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400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BA4DCA-6C67-06BD-9960-50D7D20310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985"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8282B9-AF59-5E21-10CB-8D8778DA1C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ED4424-5F47-2C1C-B12A-3BCD3B066A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7906"/>
          <a:stretch>
            <a:fillRect/>
          </a:stretch>
        </p:blipFill>
        <p:spPr>
          <a:xfrm>
            <a:off x="3513178" y="1042417"/>
            <a:ext cx="5287113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85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3A7D-C544-C52A-892D-3E338DE3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901FCD-7D41-7565-A4F5-DABD86BC9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9EEE09-660D-86A8-647B-A60F74C13AA7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35A309-81AE-17EE-497A-3B127D6E7218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40BADA06-3248-252C-1F75-FC2073040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1FD327-B013-3001-779B-AA41923950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" t="131" r="-1841" b="30269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C6CB94-6BC6-0A71-0254-8586C6C70E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400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26117F-569D-F326-0D4E-FB7E26E15D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985"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9153B4-20D4-2040-08B0-3E4391C6E5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B5B015-689B-A4B7-EED6-924C6D0A791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7906"/>
          <a:stretch>
            <a:fillRect/>
          </a:stretch>
        </p:blipFill>
        <p:spPr>
          <a:xfrm>
            <a:off x="3513178" y="1042417"/>
            <a:ext cx="5287113" cy="4773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E0F329-A63A-9E65-DE54-BFB46868465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3504"/>
          <a:stretch>
            <a:fillRect/>
          </a:stretch>
        </p:blipFill>
        <p:spPr>
          <a:xfrm>
            <a:off x="3513177" y="1060704"/>
            <a:ext cx="5287113" cy="47731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4A54192-7252-B0E1-FF52-75526136810C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2311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746F7-46C8-548D-A07A-C433653A2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AB891D-9CBC-5813-608D-59A453572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798E20-BCF5-7151-A5A4-1A8D546C5CFD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97FD89-71EB-A811-36F6-4F2CD9F38A7D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1F2E651-31E7-C403-FB6F-E2BF00104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406BAF-15E5-46AE-F4E3-CC3F0EA16F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" t="131" r="-1841" b="30269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21351B-A5E1-D03D-9595-5B54B0D89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400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C4B8D1-44DC-DE48-BC88-BFF57697E9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985"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0D76FA-5779-7F4B-6FBD-BBB6B2B8F76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EEF458-24EB-7824-E09B-E340B79C8C2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7906"/>
          <a:stretch>
            <a:fillRect/>
          </a:stretch>
        </p:blipFill>
        <p:spPr>
          <a:xfrm>
            <a:off x="3513178" y="1042417"/>
            <a:ext cx="5287113" cy="4773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4C8098-2C11-FF0F-536B-732E422034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3504"/>
          <a:stretch>
            <a:fillRect/>
          </a:stretch>
        </p:blipFill>
        <p:spPr>
          <a:xfrm>
            <a:off x="3513177" y="1060704"/>
            <a:ext cx="5287113" cy="47731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3078D9-8320-E93D-DB06-1BA955F1E49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7878" b="30400"/>
          <a:stretch>
            <a:fillRect/>
          </a:stretch>
        </p:blipFill>
        <p:spPr>
          <a:xfrm>
            <a:off x="3513177" y="1024128"/>
            <a:ext cx="5287113" cy="47731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3D9DF7E-3A55-7086-559B-4B4E4D0728BC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11766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68AB3-1C7F-8E28-8415-E5A67468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4EC2E5-92FE-CD41-87DD-95A7C90D8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254562E-3297-710A-A1FA-D981ECE78266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33069C-C49D-52DB-CD7A-A881C4A802E3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A3A352F-BC3E-C550-C3B7-924535DE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3A4A1D-99EB-782C-DECC-D8C4103D8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" t="131" r="-1841" b="30269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931BC3-0DF7-F0B2-982C-976D4BD5A4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400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2AD662-035B-6073-A1F5-7E5B1A21C5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985"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1C97A0-C782-35D4-E95D-7CEA35D711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93DB68-58B3-CEEA-58D9-63FD7B0BBC2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7906"/>
          <a:stretch>
            <a:fillRect/>
          </a:stretch>
        </p:blipFill>
        <p:spPr>
          <a:xfrm>
            <a:off x="3513178" y="1042417"/>
            <a:ext cx="5287113" cy="4773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FCEFCC-F9AA-0A40-AA18-406F41C9F35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3504"/>
          <a:stretch>
            <a:fillRect/>
          </a:stretch>
        </p:blipFill>
        <p:spPr>
          <a:xfrm>
            <a:off x="3513177" y="1060704"/>
            <a:ext cx="5287113" cy="47731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5C83A6-A58F-A330-A07A-6B58844ECBA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7878" b="30400"/>
          <a:stretch>
            <a:fillRect/>
          </a:stretch>
        </p:blipFill>
        <p:spPr>
          <a:xfrm>
            <a:off x="3513177" y="1024128"/>
            <a:ext cx="5287113" cy="47731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D318D8-B720-5F97-F71E-3D5126087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30133"/>
          <a:stretch>
            <a:fillRect/>
          </a:stretch>
        </p:blipFill>
        <p:spPr>
          <a:xfrm>
            <a:off x="3513176" y="1024128"/>
            <a:ext cx="5287112" cy="479145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A1B230C-5750-D801-3C57-9D21AD46C79D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57568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18C19-CBF7-4E2A-FC20-C4232040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F28E4C-F309-9A0F-8246-18CC1288D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A5FB99B-211C-FAF2-3AF7-4B99938ABC82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7720D-472B-DF17-8A0C-8E8769DBC2B6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4E18C24A-3531-6E9B-0A87-BA802D6A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6986A7-1D77-9EDC-E84A-93EFA4B0F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" t="131" r="-1841" b="30269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5FC027-B076-7EB7-379A-D75B56EF13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400"/>
          <a:stretch>
            <a:fillRect/>
          </a:stretch>
        </p:blipFill>
        <p:spPr>
          <a:xfrm>
            <a:off x="3513180" y="1042416"/>
            <a:ext cx="5165639" cy="4773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06824F-D462-127C-E770-1754156E6F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985"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C1C7A5-44F8-DE79-7284-8858C45E38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0400"/>
          <a:stretch>
            <a:fillRect/>
          </a:stretch>
        </p:blipFill>
        <p:spPr>
          <a:xfrm>
            <a:off x="3513179" y="1042416"/>
            <a:ext cx="5165639" cy="4773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481227-FCCC-46AA-A5F6-2473C6F91C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7906"/>
          <a:stretch>
            <a:fillRect/>
          </a:stretch>
        </p:blipFill>
        <p:spPr>
          <a:xfrm>
            <a:off x="3513178" y="1042417"/>
            <a:ext cx="5287113" cy="4773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A7EF3A-E8F3-FF63-F90F-8EB057102A9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3504"/>
          <a:stretch>
            <a:fillRect/>
          </a:stretch>
        </p:blipFill>
        <p:spPr>
          <a:xfrm>
            <a:off x="3513177" y="1060704"/>
            <a:ext cx="5287113" cy="47731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2362C7-5E74-6116-4095-15E4C450161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7878" b="30400"/>
          <a:stretch>
            <a:fillRect/>
          </a:stretch>
        </p:blipFill>
        <p:spPr>
          <a:xfrm>
            <a:off x="3513177" y="1024128"/>
            <a:ext cx="5287113" cy="47731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6A73CF-99F3-4BFD-B63B-8CEDAE36898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30133"/>
          <a:stretch>
            <a:fillRect/>
          </a:stretch>
        </p:blipFill>
        <p:spPr>
          <a:xfrm>
            <a:off x="3513176" y="1024128"/>
            <a:ext cx="5287112" cy="47914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E1A2A5-D86E-EAAD-D90D-2EB31B161D4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16213"/>
          <a:stretch>
            <a:fillRect/>
          </a:stretch>
        </p:blipFill>
        <p:spPr>
          <a:xfrm>
            <a:off x="3513174" y="1024129"/>
            <a:ext cx="5287112" cy="47731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F957E00-ABD7-127B-9C0C-C6FCEEC5E773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03931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A6455-0355-6414-2DF8-254B95BE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62F393-E900-5686-B272-9568FC861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4A4AE10-CCEA-7B4F-A63F-AB1E2F7E24D6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B115D-B3D4-6576-5892-7CC002CF1A6C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7A684D9-6A74-C674-73C8-2341F937E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SQL Queries: 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C73AB0-46F2-CB29-C3F7-7937DCDEE097}"/>
              </a:ext>
            </a:extLst>
          </p:cNvPr>
          <p:cNvSpPr txBox="1"/>
          <p:nvPr/>
        </p:nvSpPr>
        <p:spPr>
          <a:xfrm>
            <a:off x="383769" y="2121408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Optimization Plan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--If the Sales table grows to 10 million rows, the database may become slower, especially when joining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--tables or filtering  sales records. To improve performance, I would add indexes on important columns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--such as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Customer_ID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Product_ID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, and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Sale_Date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4DB189-15EF-0F05-81CD-49A1DF76E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588" y="1061434"/>
            <a:ext cx="3801005" cy="49822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73174FE-18C9-85EA-EA0F-8042872CDF3F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925580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C4452-D916-6A9D-B12C-CCFA1ED2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FEA292-DFD2-2BC1-320A-42C5367E1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809DA4-7ADD-8C7D-4011-060E8D438F90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A8E07-5704-7721-697E-E9D9D53B556F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6BE236F3-9CF0-FBFC-341D-273D910F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Dashboard’s Overview: 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CF158A-273F-1B5C-CC78-B4B98D29832F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DC5AC2-A7FD-FDA7-8D30-A4764CE8B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26" y="1162089"/>
            <a:ext cx="10649348" cy="45338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74133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E6B03-0A18-F862-3DEC-23D5CAE5E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03E4BC-6C1C-F9E6-7FAA-4F5FC583C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F1C1E75-7C13-A3D4-DBB1-5335F3D6830D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10494-D4D4-D3BC-F2CF-81EA031B9AB9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65945FB-8F7B-45DB-5A15-20980BCE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Dashboard’s Overview: 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39683D-B7D0-C3B4-9111-02B53C326EF2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17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E340EBE-2A9A-4262-B7BD-A3EE90E3C7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4624783"/>
              </p:ext>
            </p:extLst>
          </p:nvPr>
        </p:nvGraphicFramePr>
        <p:xfrm>
          <a:off x="2023872" y="1184148"/>
          <a:ext cx="8144256" cy="4489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61881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7675-C14C-68BF-0E3D-0E8566B9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4A6ECA-4860-E488-1518-41178BE5D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BAFC5EC-81CA-C52B-6BD3-8B379796CD5E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BDB6C9-1F84-2DEB-DE53-F1D73F64CE63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B45E00F-29EB-DE6E-2552-6158C33A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Dashboard’s Overview: </a:t>
            </a:r>
            <a:endParaRPr lang="en-BR" dirty="0">
              <a:solidFill>
                <a:srgbClr val="814DAD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3A48311-354D-4034-847A-9584D4468B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4335957"/>
              </p:ext>
            </p:extLst>
          </p:nvPr>
        </p:nvGraphicFramePr>
        <p:xfrm>
          <a:off x="2769706" y="1436110"/>
          <a:ext cx="6652588" cy="3985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074C2B0-08AB-E87C-BA47-150E3253A9F0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3904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A4A9B-4EBD-0A6E-066E-E1F884C2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1C5329-6C46-3FA1-A768-EC36359F9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2A6F563-35C2-7C8A-B0BE-DDF34A4CEAA1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7B819-F2F1-1E5F-42E3-5AAF5B4B3F36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2827DB0-ED93-51D9-C736-84BD962B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ADFD4-CF66-11E5-A8C0-3A6DAAF129BA}"/>
              </a:ext>
            </a:extLst>
          </p:cNvPr>
          <p:cNvSpPr txBox="1"/>
          <p:nvPr/>
        </p:nvSpPr>
        <p:spPr>
          <a:xfrm>
            <a:off x="383769" y="1060704"/>
            <a:ext cx="78744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For 3 years period our Top 3 Revenue-Generating Categories &amp; Countries: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Furniture</a:t>
            </a:r>
            <a:r>
              <a:rPr lang="en-US" dirty="0"/>
              <a:t> – highest contributor to total sales revenue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Tech</a:t>
            </a:r>
            <a:r>
              <a:rPr lang="en-US" dirty="0"/>
              <a:t> – strong performer with consistent demand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Sports</a:t>
            </a:r>
            <a:r>
              <a:rPr lang="en-US" dirty="0"/>
              <a:t> – third highest in revenue contribution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E2807C-6BA6-92E2-5E25-FBD729FAE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473" y="1965329"/>
            <a:ext cx="6450127" cy="44565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6282DD-4CF1-F430-6DDE-1DAA8FADE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71" y="2556965"/>
            <a:ext cx="5445829" cy="327329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D1C42F1-A2FA-55D6-E5F3-1364DE27C32B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956287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96BD-4D6E-20C9-8F6D-E261C46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82D30C-5F68-B2A5-43DC-FB9A463D5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EF24753-24AC-E614-C7AF-FAD9E39517FA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37369-42C6-EC3F-1FA1-A6A935333B5E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36DAED3-178C-0498-7E41-E4FC26D5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FF274-9206-FC0B-333D-F63E8E7B5DBC}"/>
              </a:ext>
            </a:extLst>
          </p:cNvPr>
          <p:cNvSpPr txBox="1"/>
          <p:nvPr/>
        </p:nvSpPr>
        <p:spPr>
          <a:xfrm>
            <a:off x="383769" y="1060704"/>
            <a:ext cx="78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Top 5 Countries: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F61596-C019-7E92-2910-CFE3BC71B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936" y="1430036"/>
            <a:ext cx="6450127" cy="445656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E34BFF5-F042-7750-288C-BB8D6984AD97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20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610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32558-1487-ED54-2984-F90A6FE16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7E3AA-8670-5D0A-607B-F7034D0C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936" y="1430036"/>
            <a:ext cx="6450127" cy="4456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C8F00F-B8F5-4AFD-C939-457A6540E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D1E2AFF-82C2-224E-3519-A4F52011E2BC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B249B6-D336-39C0-4A86-609DBEAF7282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6F11D58-A6F2-FDEF-BC62-33DAABF9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2719F-13FC-4B38-8126-B0B314FBA317}"/>
              </a:ext>
            </a:extLst>
          </p:cNvPr>
          <p:cNvSpPr txBox="1"/>
          <p:nvPr/>
        </p:nvSpPr>
        <p:spPr>
          <a:xfrm>
            <a:off x="383769" y="1060704"/>
            <a:ext cx="78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Lowest 5 Countries:</a:t>
            </a: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51D1725-4ACC-0213-B308-FD0C0FD06B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6143754"/>
              </p:ext>
            </p:extLst>
          </p:nvPr>
        </p:nvGraphicFramePr>
        <p:xfrm>
          <a:off x="2870936" y="1430037"/>
          <a:ext cx="6450127" cy="4103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FBA3A9A-EF13-5D82-8AFA-34E205C0CCBC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44029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1CF0-EE53-4E31-F374-AC2D38310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DF4AE9-A22D-90AE-3118-8E3F4F41C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49B8941-C796-4E43-EE44-647FF210C874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A02BBB-38C1-015B-84D0-62766C25C85D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EEAD35A-1AD7-746A-8DCE-6A74C45B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0E71E-B9AA-4660-FE7A-1649905FF802}"/>
              </a:ext>
            </a:extLst>
          </p:cNvPr>
          <p:cNvSpPr txBox="1"/>
          <p:nvPr/>
        </p:nvSpPr>
        <p:spPr>
          <a:xfrm>
            <a:off x="383769" y="1060704"/>
            <a:ext cx="78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Top 5 selling products: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F2A1656-84DF-9FC1-D64E-A1CCC43E5B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4579808"/>
              </p:ext>
            </p:extLst>
          </p:nvPr>
        </p:nvGraphicFramePr>
        <p:xfrm>
          <a:off x="2833687" y="1516148"/>
          <a:ext cx="6524625" cy="4281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1F11094-E7D0-A184-833A-C3778A9E7CDF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31165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452C-263A-5489-3152-6216078AD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2F237F-268A-267E-EEF7-2E9F2C774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FAE0A4-FEC2-CEFD-B2F1-0200C53168C7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E2E2A1-A90E-7F5D-6F69-352AC5123A92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3F58E5A-54B9-893E-98E0-3FC848839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D245F-91D9-EC69-08C2-65495DE35B19}"/>
              </a:ext>
            </a:extLst>
          </p:cNvPr>
          <p:cNvSpPr txBox="1"/>
          <p:nvPr/>
        </p:nvSpPr>
        <p:spPr>
          <a:xfrm>
            <a:off x="383769" y="1060704"/>
            <a:ext cx="78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Lowest 5 selling products: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842358-B045-59F3-6BC9-FC59AA178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934" y="1515371"/>
            <a:ext cx="7136541" cy="42819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BAC9210-AC89-E62E-8711-7456011CEAC4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66555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C8ADF-1B15-31A2-70D9-90D8E246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4B65C2-62BB-8374-D19A-E2204E2A8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BDE133-F7CA-5AC8-4D80-29A38C1CBF05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4A987A-2568-CBA1-E219-359DF104933A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62FE2E0-3462-DA55-656A-FE7A7D30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968D1-7F42-E70A-838D-294FAD30AB25}"/>
              </a:ext>
            </a:extLst>
          </p:cNvPr>
          <p:cNvSpPr txBox="1"/>
          <p:nvPr/>
        </p:nvSpPr>
        <p:spPr>
          <a:xfrm>
            <a:off x="383769" y="1060704"/>
            <a:ext cx="78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(YOY) In </a:t>
            </a:r>
            <a:r>
              <a:rPr lang="en-US" b="1" dirty="0"/>
              <a:t>2024, our top selling Categories &amp; Countries: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05FA05-6E1A-D602-E593-618EB827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797" y="2744339"/>
            <a:ext cx="4560203" cy="29446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423610-5F11-82B1-C61A-034441E2C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44339"/>
            <a:ext cx="4657748" cy="294462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397DA0-A5C9-4E83-B51C-DD6DD7A9AF33}"/>
              </a:ext>
            </a:extLst>
          </p:cNvPr>
          <p:cNvSpPr/>
          <p:nvPr/>
        </p:nvSpPr>
        <p:spPr>
          <a:xfrm>
            <a:off x="8904834" y="1597663"/>
            <a:ext cx="1665745" cy="569270"/>
          </a:xfrm>
          <a:prstGeom prst="roundRect">
            <a:avLst/>
          </a:prstGeom>
          <a:solidFill>
            <a:srgbClr val="8064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/>
            <a:r>
              <a:rPr lang="en-US" sz="1200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💰Total Revenue:</a:t>
            </a:r>
          </a:p>
          <a:p>
            <a:pPr marL="0" lvl="0" indent="0" algn="ctr"/>
            <a:r>
              <a:rPr lang="en-US" sz="1200" b="0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sz="1200" b="1" dirty="0"/>
              <a:t>1</a:t>
            </a:r>
            <a:r>
              <a:rPr lang="en-US" sz="1200" b="1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,607,040.00 </a:t>
            </a:r>
            <a:endParaRPr lang="en-US" sz="1200" b="1" dirty="0">
              <a:solidFill>
                <a:schemeClr val="bg1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7138EC1-70A0-414F-A55A-3FF9937064F3}"/>
              </a:ext>
            </a:extLst>
          </p:cNvPr>
          <p:cNvSpPr/>
          <p:nvPr/>
        </p:nvSpPr>
        <p:spPr>
          <a:xfrm>
            <a:off x="7104609" y="1597663"/>
            <a:ext cx="1674797" cy="569270"/>
          </a:xfrm>
          <a:prstGeom prst="roundRect">
            <a:avLst/>
          </a:prstGeom>
          <a:solidFill>
            <a:srgbClr val="8064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/>
            <a:r>
              <a:rPr lang="en-US" sz="1200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📦Total Units Sold:</a:t>
            </a:r>
            <a:br>
              <a:rPr lang="en-US" sz="1200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1200" b="1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5178</a:t>
            </a:r>
            <a:r>
              <a:rPr lang="en-US" sz="1200" b="1" dirty="0">
                <a:effectLst/>
              </a:rPr>
              <a:t> </a:t>
            </a:r>
            <a:endParaRPr lang="en-US" sz="1200" b="1" dirty="0">
              <a:solidFill>
                <a:schemeClr val="bg1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B5265-0BF3-4036-415D-E738A82AAB06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EDBFAC-F6F8-06E5-346A-092DB496C246}"/>
              </a:ext>
            </a:extLst>
          </p:cNvPr>
          <p:cNvSpPr txBox="1"/>
          <p:nvPr/>
        </p:nvSpPr>
        <p:spPr>
          <a:xfrm>
            <a:off x="1535797" y="2255712"/>
            <a:ext cx="534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Business launched in 2024.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02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4472-A7DC-5C73-9A63-EC5CA7DA0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6E2067-3E4B-B195-527B-21A9E2655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594698-D281-B648-6932-3E73BAD5623A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B3D48D-21D2-071B-6848-245245D873B4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2092DFF-D2BD-3583-5080-621990F5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D4AFF-E027-5D82-ED39-49008A8C2FCB}"/>
              </a:ext>
            </a:extLst>
          </p:cNvPr>
          <p:cNvSpPr txBox="1"/>
          <p:nvPr/>
        </p:nvSpPr>
        <p:spPr>
          <a:xfrm>
            <a:off x="383769" y="1060704"/>
            <a:ext cx="78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(YOY) In 2025, our top selling Categories &amp; Countries: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78A173-D6D8-040A-B0F2-70AB7C873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797" y="2676122"/>
            <a:ext cx="4560203" cy="2948016"/>
          </a:xfrm>
          <a:prstGeom prst="rect">
            <a:avLst/>
          </a:prstGeom>
        </p:spPr>
      </p:pic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E340EBE-2A9A-4262-B7BD-A3EE90E3C7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8534871"/>
              </p:ext>
            </p:extLst>
          </p:nvPr>
        </p:nvGraphicFramePr>
        <p:xfrm>
          <a:off x="6096000" y="2676121"/>
          <a:ext cx="4652664" cy="2948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566763-592B-9CD5-9411-A8FB220BE933}"/>
              </a:ext>
            </a:extLst>
          </p:cNvPr>
          <p:cNvSpPr/>
          <p:nvPr/>
        </p:nvSpPr>
        <p:spPr>
          <a:xfrm>
            <a:off x="8904834" y="1597663"/>
            <a:ext cx="1665745" cy="569270"/>
          </a:xfrm>
          <a:prstGeom prst="roundRect">
            <a:avLst/>
          </a:prstGeom>
          <a:solidFill>
            <a:srgbClr val="8064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/>
            <a:r>
              <a:rPr lang="en-US" sz="1200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💰Total Revenue:</a:t>
            </a:r>
          </a:p>
          <a:p>
            <a:pPr marL="0" lvl="0" indent="0" algn="ctr"/>
            <a:r>
              <a:rPr lang="en-US" sz="1200" b="0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sz="1200" b="1" dirty="0"/>
              <a:t>1</a:t>
            </a:r>
            <a:r>
              <a:rPr lang="en-US" sz="1200" b="1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,667,</a:t>
            </a:r>
            <a:r>
              <a:rPr lang="en-US" sz="1200" b="1" dirty="0"/>
              <a:t>150</a:t>
            </a:r>
            <a:r>
              <a:rPr lang="en-US" sz="1200" b="1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.00 </a:t>
            </a:r>
            <a:endParaRPr lang="en-US" sz="1200" b="1" dirty="0">
              <a:solidFill>
                <a:schemeClr val="bg1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666A20-EBEE-89F6-A81D-0B63405F2FF0}"/>
              </a:ext>
            </a:extLst>
          </p:cNvPr>
          <p:cNvSpPr/>
          <p:nvPr/>
        </p:nvSpPr>
        <p:spPr>
          <a:xfrm>
            <a:off x="7104609" y="1597663"/>
            <a:ext cx="1674797" cy="569270"/>
          </a:xfrm>
          <a:prstGeom prst="roundRect">
            <a:avLst/>
          </a:prstGeom>
          <a:solidFill>
            <a:srgbClr val="8064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/>
            <a:r>
              <a:rPr lang="en-US" sz="1200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📦Total Units Sold:</a:t>
            </a:r>
            <a:br>
              <a:rPr lang="en-US" sz="1200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1200" b="1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5402</a:t>
            </a:r>
            <a:r>
              <a:rPr lang="en-US" sz="1200" b="1" dirty="0">
                <a:effectLst/>
              </a:rPr>
              <a:t> </a:t>
            </a:r>
            <a:endParaRPr lang="en-US" sz="1200" b="1" dirty="0">
              <a:solidFill>
                <a:schemeClr val="bg1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5BA18D-5FEF-F4EF-6FEE-5915AF69EA68}"/>
              </a:ext>
            </a:extLst>
          </p:cNvPr>
          <p:cNvSpPr txBox="1"/>
          <p:nvPr/>
        </p:nvSpPr>
        <p:spPr>
          <a:xfrm>
            <a:off x="1535797" y="2255712"/>
            <a:ext cx="534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3.4% </a:t>
            </a:r>
            <a:r>
              <a:rPr lang="en-US" dirty="0"/>
              <a:t>Growth in comparison with the past year.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18F77E-9792-39E4-8D59-DCBCBC68E944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469914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654B8-7B29-290E-94E5-8D0E2793A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1595794-61DD-8770-168A-6176F927A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70798CF-9F88-04B1-13AC-A6A7AA74A161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22C988-1A12-3619-5208-0D0A74DFEA65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26561DE-605F-2A1F-3B1B-A00C0532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EAC2CE-17E8-AF20-F376-67D2C561339F}"/>
              </a:ext>
            </a:extLst>
          </p:cNvPr>
          <p:cNvSpPr txBox="1"/>
          <p:nvPr/>
        </p:nvSpPr>
        <p:spPr>
          <a:xfrm>
            <a:off x="383769" y="1060704"/>
            <a:ext cx="78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(YOY) In 2026, our top selling Categories &amp; Countries: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B9707B-A6E8-DA13-7E87-5A669CCFD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797" y="2609447"/>
            <a:ext cx="4560203" cy="2948016"/>
          </a:xfrm>
          <a:prstGeom prst="rect">
            <a:avLst/>
          </a:prstGeom>
        </p:spPr>
      </p:pic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E340EBE-2A9A-4262-B7BD-A3EE90E3C7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7693959"/>
              </p:ext>
            </p:extLst>
          </p:nvPr>
        </p:nvGraphicFramePr>
        <p:xfrm>
          <a:off x="6096000" y="2609446"/>
          <a:ext cx="4652664" cy="2948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3B388D-241F-C78E-3D68-3C70ED66E9CC}"/>
              </a:ext>
            </a:extLst>
          </p:cNvPr>
          <p:cNvSpPr/>
          <p:nvPr/>
        </p:nvSpPr>
        <p:spPr>
          <a:xfrm>
            <a:off x="8904834" y="1597663"/>
            <a:ext cx="1665745" cy="569270"/>
          </a:xfrm>
          <a:prstGeom prst="roundRect">
            <a:avLst/>
          </a:prstGeom>
          <a:solidFill>
            <a:srgbClr val="8064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/>
            <a:r>
              <a:rPr lang="en-US" sz="1200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💰Total Revenue:</a:t>
            </a:r>
          </a:p>
          <a:p>
            <a:pPr marL="0" lvl="0" indent="0" algn="ctr"/>
            <a:r>
              <a:rPr lang="en-US" sz="1200" b="0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$585,700.00 </a:t>
            </a:r>
            <a:endParaRPr lang="en-US" sz="1200" b="1" dirty="0">
              <a:solidFill>
                <a:schemeClr val="bg1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80B07F-08BF-E3DC-6767-34C8FED11E96}"/>
              </a:ext>
            </a:extLst>
          </p:cNvPr>
          <p:cNvSpPr/>
          <p:nvPr/>
        </p:nvSpPr>
        <p:spPr>
          <a:xfrm>
            <a:off x="7104609" y="1597663"/>
            <a:ext cx="1674797" cy="569270"/>
          </a:xfrm>
          <a:prstGeom prst="roundRect">
            <a:avLst/>
          </a:prstGeom>
          <a:solidFill>
            <a:srgbClr val="8064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/>
            <a:r>
              <a:rPr lang="en-US" sz="1200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📦Total Units Sold:</a:t>
            </a:r>
            <a:br>
              <a:rPr lang="en-US" sz="1200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1200" b="1" i="0" u="none" strike="noStrike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1785</a:t>
            </a:r>
            <a:r>
              <a:rPr lang="en-US" sz="1200" b="1" dirty="0">
                <a:effectLst/>
              </a:rPr>
              <a:t> </a:t>
            </a:r>
            <a:endParaRPr lang="en-US" sz="1200" b="1" dirty="0">
              <a:solidFill>
                <a:schemeClr val="bg1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B46A0B-C369-100F-5E3F-99554FB71DDD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B6595A-B229-3349-8D41-905ED1D21EA3}"/>
              </a:ext>
            </a:extLst>
          </p:cNvPr>
          <p:cNvSpPr txBox="1"/>
          <p:nvPr/>
        </p:nvSpPr>
        <p:spPr>
          <a:xfrm>
            <a:off x="1535797" y="2255712"/>
            <a:ext cx="776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6% </a:t>
            </a:r>
            <a:r>
              <a:rPr lang="en-US" dirty="0"/>
              <a:t>Degrowth in comparison with the same period from the last year</a:t>
            </a:r>
          </a:p>
        </p:txBody>
      </p:sp>
    </p:spTree>
    <p:extLst>
      <p:ext uri="{BB962C8B-B14F-4D97-AF65-F5344CB8AC3E}">
        <p14:creationId xmlns:p14="http://schemas.microsoft.com/office/powerpoint/2010/main" val="1348677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B07A-B0B3-8BBE-C618-EA7DAA83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24A62A-3258-2EDF-7757-2F4623B2B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5CF78B3-0A9F-293F-BCF9-8A40F335CC97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EAA35D-9A54-0FE5-229F-FA3E9CD047CE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53024ED8-B037-21F6-CC75-3889D950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3AA0B-3C78-AA78-04A5-C0D849136D3C}"/>
              </a:ext>
            </a:extLst>
          </p:cNvPr>
          <p:cNvSpPr txBox="1"/>
          <p:nvPr/>
        </p:nvSpPr>
        <p:spPr>
          <a:xfrm>
            <a:off x="383769" y="1060704"/>
            <a:ext cx="78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Recommendations: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46D6DE-FD31-ECA1-AF6B-5714CD908B05}"/>
              </a:ext>
            </a:extLst>
          </p:cNvPr>
          <p:cNvSpPr txBox="1"/>
          <p:nvPr/>
        </p:nvSpPr>
        <p:spPr>
          <a:xfrm>
            <a:off x="383769" y="182389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Boost Sales in High-Performing Categories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Furniture, Sports</a:t>
            </a:r>
            <a:r>
              <a:rPr lang="en-US" dirty="0"/>
              <a:t> &amp; </a:t>
            </a:r>
            <a:r>
              <a:rPr lang="en-US" b="1" dirty="0"/>
              <a:t>Tech </a:t>
            </a:r>
            <a:r>
              <a:rPr lang="en-US" dirty="0"/>
              <a:t>categories are doing really well. It’s important to maintain this momentum by running </a:t>
            </a:r>
            <a:r>
              <a:rPr lang="en-US" b="1" dirty="0"/>
              <a:t>targeted promotions</a:t>
            </a:r>
            <a:r>
              <a:rPr lang="en-US" dirty="0"/>
              <a:t> and strategic marketing in these areas.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the same time, we should focus on improving sales in </a:t>
            </a:r>
            <a:r>
              <a:rPr lang="en-US" b="1" dirty="0"/>
              <a:t>Home &amp; Kitchen</a:t>
            </a:r>
            <a:r>
              <a:rPr lang="en-US" dirty="0"/>
              <a:t> and </a:t>
            </a:r>
            <a:r>
              <a:rPr lang="en-US" b="1" dirty="0"/>
              <a:t>Accessories</a:t>
            </a:r>
            <a:r>
              <a:rPr lang="en-US" dirty="0"/>
              <a:t>, which are currently underperforming, through targeted campaigns and promotions.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C3730B-3C7C-2C72-FA41-5021E0AD4E6B}"/>
              </a:ext>
            </a:extLst>
          </p:cNvPr>
          <p:cNvSpPr txBox="1"/>
          <p:nvPr/>
        </p:nvSpPr>
        <p:spPr>
          <a:xfrm>
            <a:off x="383769" y="461438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Build Stronger Relationships with Top Customers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small group of high-value customers contributes significantly to total revenue. We should look into </a:t>
            </a:r>
            <a:r>
              <a:rPr lang="en-US" b="1" dirty="0"/>
              <a:t>customer retention programs</a:t>
            </a:r>
            <a:r>
              <a:rPr lang="en-US" dirty="0"/>
              <a:t>, like a </a:t>
            </a:r>
            <a:r>
              <a:rPr lang="en-US" b="1" dirty="0"/>
              <a:t>loyalty scheme</a:t>
            </a:r>
            <a:r>
              <a:rPr lang="en-US" dirty="0"/>
              <a:t> or personalized offers, to encourage these customers to keep coming back.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82CB4093-CB3C-3B7D-6264-39C1E9DB87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9355735"/>
              </p:ext>
            </p:extLst>
          </p:nvPr>
        </p:nvGraphicFramePr>
        <p:xfrm>
          <a:off x="6957296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59840C9A-A9E4-FCBE-E2CA-B1A2B6205724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210343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B96B-0868-6627-7324-A113996B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D2DCAC-66B3-10A2-E578-9E3F1F0A2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C2A6614-2AC8-9732-B7ED-1DE1CC333879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84D085-CA7E-59F3-E73C-0C48389EB50E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988563A-D8F0-20CF-809E-079C75569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69" y="265375"/>
            <a:ext cx="6720840" cy="499397"/>
          </a:xfrm>
        </p:spPr>
        <p:txBody>
          <a:bodyPr/>
          <a:lstStyle/>
          <a:p>
            <a:r>
              <a:rPr lang="en-US" dirty="0">
                <a:solidFill>
                  <a:srgbClr val="814DAD"/>
                </a:solidFill>
              </a:rPr>
              <a:t>Insights &amp; Recommendations:</a:t>
            </a:r>
            <a:endParaRPr lang="en-BR" dirty="0">
              <a:solidFill>
                <a:srgbClr val="814D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186B5-7831-2864-36DE-259B2C979F48}"/>
              </a:ext>
            </a:extLst>
          </p:cNvPr>
          <p:cNvSpPr txBox="1"/>
          <p:nvPr/>
        </p:nvSpPr>
        <p:spPr>
          <a:xfrm>
            <a:off x="383769" y="1060704"/>
            <a:ext cx="787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Recommendations: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CD608-D04D-0B48-14DC-4DB0008A4965}"/>
              </a:ext>
            </a:extLst>
          </p:cNvPr>
          <p:cNvSpPr txBox="1"/>
          <p:nvPr/>
        </p:nvSpPr>
        <p:spPr>
          <a:xfrm>
            <a:off x="383769" y="172596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Reallocate Premium Stock for Optimal Availability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ensure that we </a:t>
            </a:r>
            <a:r>
              <a:rPr lang="en-US" b="1" dirty="0"/>
              <a:t>never run out of stock</a:t>
            </a:r>
            <a:r>
              <a:rPr lang="en-US" dirty="0"/>
              <a:t> in high-performing regions, consider </a:t>
            </a:r>
            <a:r>
              <a:rPr lang="en-US" b="1" dirty="0"/>
              <a:t>redistributing premium stock</a:t>
            </a:r>
            <a:r>
              <a:rPr lang="en-US" dirty="0"/>
              <a:t> from underperforming countries. This will help us meet demand in regions with stronger sales while still maintaining an appropriate inventory level in lower-performing countries, avoiding stockouts and overstocks.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3CAF1-F684-DCC7-A79D-715A8EB18679}"/>
              </a:ext>
            </a:extLst>
          </p:cNvPr>
          <p:cNvSpPr txBox="1"/>
          <p:nvPr/>
        </p:nvSpPr>
        <p:spPr>
          <a:xfrm>
            <a:off x="383769" y="405322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Focus on Expanding Sales in Underperforming Regions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countries are lagging behind in sales. By running </a:t>
            </a:r>
            <a:r>
              <a:rPr lang="en-US" b="1" dirty="0"/>
              <a:t>targeted campaigns</a:t>
            </a:r>
            <a:r>
              <a:rPr lang="en-US" dirty="0"/>
              <a:t> in these regions and tailoring them to local preferences, we can increase awareness and drive sales. A </a:t>
            </a:r>
            <a:r>
              <a:rPr lang="en-US" b="1" dirty="0"/>
              <a:t>localized approach</a:t>
            </a:r>
            <a:r>
              <a:rPr lang="en-US" dirty="0"/>
              <a:t> based on specific market needs could significantly improve performance.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D0C81D7-B0D1-C147-D396-47199368B3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355983"/>
              </p:ext>
            </p:extLst>
          </p:nvPr>
        </p:nvGraphicFramePr>
        <p:xfrm>
          <a:off x="6771208" y="1887633"/>
          <a:ext cx="4816272" cy="3170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9A07BB6-022B-DF5E-D383-7C0111CAD382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88933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21078-04D3-B9F5-94C8-C0544CE8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BAB08B-C6E0-4B94-43B6-2BE52F0D2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93" y="0"/>
            <a:ext cx="1325407" cy="1060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209439-D173-6C82-F3D5-F3333551099C}"/>
              </a:ext>
            </a:extLst>
          </p:cNvPr>
          <p:cNvSpPr/>
          <p:nvPr/>
        </p:nvSpPr>
        <p:spPr>
          <a:xfrm>
            <a:off x="0" y="6634480"/>
            <a:ext cx="12192000" cy="233680"/>
          </a:xfrm>
          <a:prstGeom prst="rect">
            <a:avLst/>
          </a:prstGeom>
          <a:solidFill>
            <a:srgbClr val="814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BB8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A683D-58DB-F46A-4F9E-E6E1D12A7868}"/>
              </a:ext>
            </a:extLst>
          </p:cNvPr>
          <p:cNvSpPr/>
          <p:nvPr/>
        </p:nvSpPr>
        <p:spPr>
          <a:xfrm>
            <a:off x="11460480" y="6634480"/>
            <a:ext cx="254000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55DC270B-D1E8-EC33-C754-B278E150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580" y="2929603"/>
            <a:ext cx="6720840" cy="499397"/>
          </a:xfrm>
        </p:spPr>
        <p:txBody>
          <a:bodyPr/>
          <a:lstStyle/>
          <a:p>
            <a:pPr algn="ctr"/>
            <a:r>
              <a:rPr lang="en-US" sz="8800" dirty="0">
                <a:solidFill>
                  <a:srgbClr val="814DAD"/>
                </a:solidFill>
              </a:rPr>
              <a:t>Thank you</a:t>
            </a:r>
            <a:endParaRPr lang="en-BR" sz="8800" dirty="0">
              <a:solidFill>
                <a:srgbClr val="814DAD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088D65-F306-7EB8-2A9C-EB2046CAA31A}"/>
              </a:ext>
            </a:extLst>
          </p:cNvPr>
          <p:cNvSpPr/>
          <p:nvPr/>
        </p:nvSpPr>
        <p:spPr>
          <a:xfrm>
            <a:off x="11363325" y="6634480"/>
            <a:ext cx="35115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713788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1039</Words>
  <Application>Microsoft Office PowerPoint</Application>
  <PresentationFormat>Widescreen</PresentationFormat>
  <Paragraphs>170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Consolas</vt:lpstr>
      <vt:lpstr>Noto Sans</vt:lpstr>
      <vt:lpstr>Office Theme</vt:lpstr>
      <vt:lpstr>PowerPoint Presentation</vt:lpstr>
      <vt:lpstr>Agenda:</vt:lpstr>
      <vt:lpstr>Project Overview:</vt:lpstr>
      <vt:lpstr>Entity Relationship Diagram:</vt:lpstr>
      <vt:lpstr>Normalization:</vt:lpstr>
      <vt:lpstr>SQL Queries: </vt:lpstr>
      <vt:lpstr>SQL Queries: </vt:lpstr>
      <vt:lpstr>SQL Queries: </vt:lpstr>
      <vt:lpstr>SQL Queries: </vt:lpstr>
      <vt:lpstr>SQL Queries: </vt:lpstr>
      <vt:lpstr>SQL Queries: </vt:lpstr>
      <vt:lpstr>SQL Queries: </vt:lpstr>
      <vt:lpstr>SQL Queries: </vt:lpstr>
      <vt:lpstr>SQL Queries: </vt:lpstr>
      <vt:lpstr>SQL Queries: </vt:lpstr>
      <vt:lpstr>Dashboard’s Overview: </vt:lpstr>
      <vt:lpstr>Dashboard’s Overview: </vt:lpstr>
      <vt:lpstr>Dashboard’s Overview: </vt:lpstr>
      <vt:lpstr>Insights &amp; Recommendations:</vt:lpstr>
      <vt:lpstr>Insights &amp; Recommendations:</vt:lpstr>
      <vt:lpstr>Insights &amp; Recommendations:</vt:lpstr>
      <vt:lpstr>Insights &amp; Recommendations:</vt:lpstr>
      <vt:lpstr>Insights &amp; Recommendations:</vt:lpstr>
      <vt:lpstr>Insights &amp; Recommendations:</vt:lpstr>
      <vt:lpstr>Insights &amp; Recommendations:</vt:lpstr>
      <vt:lpstr>Insights &amp; Recommendations:</vt:lpstr>
      <vt:lpstr>Insights &amp; Recommendations:</vt:lpstr>
      <vt:lpstr>Insights &amp; Recommendations: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Karim Kamel</dc:creator>
  <cp:lastModifiedBy>Karim Kamel</cp:lastModifiedBy>
  <cp:revision>14</cp:revision>
  <dcterms:created xsi:type="dcterms:W3CDTF">2026-05-11T09:01:57Z</dcterms:created>
  <dcterms:modified xsi:type="dcterms:W3CDTF">2026-05-11T20:04:55Z</dcterms:modified>
</cp:coreProperties>
</file>